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DIRE : Bonjour. Je présente Cléopâtre, la plateforme e-commerce d’une parapharmacie d’Ezzahra et de Hammam-Lif, que j’ai redessinée et développée de bout en bout. Le titre complet est affiché ; je me présente puis j’enchaîne.</a:t>
            </a:r>
          </a:p>
          <a:p/>
          <a:p>
            <a:r>
              <a:t>À COMPLÉTER AVANT LA SOUTENANCE : [Nom de l’étudiant·e], [Encadrant], [Établissement], [Année universitaire] (zones de texte modifiables en bas à gauche).</a:t>
            </a:r>
          </a:p>
          <a:p/>
          <a:p>
            <a:r>
              <a:t>VISUEL : still de campagne authentique du projet (public/videos/posters/hero.jpg).</a:t>
            </a:r>
          </a:p>
          <a:p>
            <a:r>
              <a:t>POLICES : Anton, Instrument Sans et JetBrains Mono (voir docs/soutenance/polices). Sans installation, PowerPoint substitue une police de remplacement.</a:t>
            </a:r>
          </a:p>
          <a:p/>
          <a:p>
            <a:r>
              <a:t>TRANSITION (Morph, mot à mot) → 2 : l’image change de cadrage et passe à gauche ; les mots du titre (plateforme, pour, une, parapharmacie) glissent vers le titre d’introduction ; le trait vert devient le repère de chapitre ; « CLÉOPÂTRE » se réduit en marque.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DIRE : Cléopâtre est une parapharmacie implantée à Ezzahra et à Hammam-Lif. Mon travail : repenser son identité en ligne et développer entièrement la plateforme — une vitrine pour les clients et un espace d’administration séparé pour l’équipe. Le trait vert et l’index en haut à droite nous accompagneront jusqu’à la fin.</a:t>
            </a:r>
          </a:p>
          <a:p/>
          <a:p>
            <a:r>
              <a:t>SOURCES : README.md (contexte, stack) ; src/app/(site)/local/ezzahra-hammam-lif/page.tsx ; public/videos/posters/hero.jpg.</a:t>
            </a:r>
          </a:p>
          <a:p>
            <a:r>
              <a:t>(Aucun chiffre d’activité n’est avancé : le dossier ne contient pas de données commerciales.)</a:t>
            </a:r>
          </a:p>
          <a:p/>
          <a:p>
            <a:r>
              <a:t>TRANSITION → 3 : l’image se retire en simple lisière à gauche ; le trait vert pivote à la verticale pour devenir l’ancre de la question ; le titre se transforme en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DIRE : Voici la question qui guide tout le projet. Elle a deux moitiés : l’expérience du client (en encre) et les outils de l’équipe (en vert). Je ne prétends pas qu’un problème chiffré préexistait : il s’agit d’une problématique de conception.</a:t>
            </a:r>
          </a:p>
          <a:p/>
          <a:p>
            <a:r>
              <a:t>SOURCES : énoncé du projet (aucune étude ni enquête n’est invoquée).</a:t>
            </a:r>
          </a:p>
          <a:p/>
          <a:p>
            <a:r>
              <a:t>TRANSITION → 4 : la question se sépare — la première moitié devient le chemin « Client », la seconde le chemin « Administration » ; le soulignement se redresse et devient le connecteur entre les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DIRE : La solution est un seul système avec deux espaces. Côté client : découvrir, choisir, commander et suivre. Côté administration : gérer le catalogue, les stocks, les commandes et la relation client. Les deux reposent sur la même base PostgreSQL — c’est ce lien, au centre, qui fait la cohérence.</a:t>
            </a:r>
          </a:p>
          <a:p/>
          <a:p>
            <a:r>
              <a:t>SOURCES : src/app/(site) (vitrine) ; src/app/admin (administration) ; src/db/schema.ts ; README.md (« PostgreSQL comme source unique de vérité »).</a:t>
            </a:r>
          </a:p>
          <a:p>
            <a:r>
              <a:t>VISUELS : public/images/u-visage.jpg (client) et public/images/atelier.jpg (équipe, geste de préparation).</a:t>
            </a:r>
          </a:p>
          <a:p/>
          <a:p>
            <a:r>
              <a:t>TRANSITION → 5 : les deux chemins se replient à la verticale pour former deux colonnes du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DIRE : Le plan suit la logique du projet : contexte (introduction, problématique, solution), besoins, modélisation et réalisation, conception, démonstration des interfaces, puis conclusion. La colonne verte porte le contexte et les besoins, la colonne encre la réalisation.</a:t>
            </a:r>
          </a:p>
          <a:p/>
          <a:p>
            <a:r>
              <a:t>TRANSITION → 6 : le numéro 04 grandit et vient en tête de la diapositive suivante ; les deux colonnes se couchent et deviennent les liaisons entre les acteurs et la plateforme.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DIRE : Deux acteurs. Le client consulte, commande et suit ; l’équipe gère le catalogue, les commandes et la relation client. La ligne pointillée marque la frontière du système : la plateforme Cléopâtre contient la vitrine et l’administration.</a:t>
            </a:r>
          </a:p>
          <a:p/>
          <a:p>
            <a:r>
              <a:t>SOURCES : src/app/(site) ; src/app/admin ; src/lib/auth.ts (rôles customer / support / admin, schema userRoleEnum dans src/db/schema.ts).</a:t>
            </a:r>
          </a:p>
          <a:p/>
          <a:p>
            <a:r>
              <a:t>TRANSITION → 7 : l’acteur Client se réduit en pastille et se place au départ du parcours ; la frontière supérieure devient la ligne du parcours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DIRE : Le parcours client en cinq temps. Découvrir : univers, catégories, marques, produits. Choisir : recherche, filtres, fiche produit. Commander : panier, commande, et les moyens de paiement réellement disponibles — paiement à la livraison, virement bancaire, carte cadeau. Le paiement par carte bancaire n’est pas activé et aucune passerelle n’est intégrée. Suivre : compte, favoris, avis, notifications, suivi de commande, retours. Conseil : support et conseils.</a:t>
            </a:r>
          </a:p>
          <a:p/>
          <a:p>
            <a:r>
              <a:t>SOURCES : src/app/(site)/{boutique, univers/[slug], categorie/[slug], marques, produit/[slug], recherche, panier, commande, suivi, conseil-pharmacien, aide} ; src/app/(site)/compte/{favoris, commandes, retours, notifications} ; src/actions/checkout.ts ; docs/PAYMENTS.md (cod, bank_transfer, gift_card actifs ; card refusé côté serveur).</a:t>
            </a:r>
          </a:p>
          <a:p/>
          <a:p>
            <a:r>
              <a:t>TRANSITION → 8 : la ligne horizontale se redresse et les cinq repères descendent en colonne : le même fil devient le flux de travail de l’équipe. La pastille « CLIENT » devient « ÉQUIPE » et le bandeau vert s’élargit en panneau sombre.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DIRE : Côté équipe, le travail suit un flux : catalogue (produits, marques, prix, promotions), stock (niveaux, lots, dates), commandes (traitement et préparation), clientèle (clients, retours, factures), suivi (support, e-mails transactionnels, activité). Point clé : chaque action d’administration est protégée par un rôle, vérifié côté serveur.</a:t>
            </a:r>
          </a:p>
          <a:p/>
          <a:p>
            <a:r>
              <a:t>SOURCES : src/app/admin/{produits, promotions, stock, lots, commandes, preparation, clients, retours-rma, support, emails, activite} ; src/lib/admin/ ; src/actions/admin.ts, src/actions/lots.ts ; src/lib/auth.ts (requireStaff, requireAdmin) ; src/lib/invoice-pdf.ts (factures).</a:t>
            </a:r>
          </a:p>
          <a:p/>
          <a:p>
            <a:r>
              <a:t>TRANSITION → 9 : la colonne de flux et ses filets se réorganisent en grille de spécification.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DIRE : Je sépare l’objectif général de ce qui existe réellement dans le code. Sécurité : sessions en cookie httpOnly, rôles vérifiés côté serveur. Validation : schémas Zod avant traitement. Résilience : limitation de débit stockée dans PostgreSQL et pages d’erreur. Adaptation : écrans adaptatifs et respect de prefers-reduced-motion. Performance : images optimisées (AVIF/WebP) et vidéos chargées quand la scène approche de l’écran. Évolutivité : code modulaire, TypeScript, PostgreSQL. Localisation : français, tounsi en lettres latines et arabe tunisien (de droite à gauche).</a:t>
            </a:r>
          </a:p>
          <a:p>
            <a:r>
              <a:t>Je ne revendique ni certification, ni score, ni résultat garanti.</a:t>
            </a:r>
          </a:p>
          <a:p/>
          <a:p>
            <a:r>
              <a:t>SOURCES : src/lib/auth.ts (createSession httpOnly, sameSite, requireStaff/requireAdmin) ; src/lib/validation.ts (Zod) ; src/lib/rate-limit.ts ; src/app/error.tsx, global-error.tsx ; src/app/globals.css (prefers-reduced-motion) ; next.config.ts (images avif/webp) ; src/components/cinematic/VideoLoader.tsx (IntersectionObserver) ; src/lib/i18n/config.ts (fr, tn, tn-arab) ; src/db/schema.ts.</a:t>
            </a:r>
          </a:p>
          <a:p/>
          <a:p>
            <a:r>
              <a:t>TRANSITION → 10 : les filets de la grille deviennent les connecteurs de l’architecture, les repères verts deviennent des nœuds ; « Sécurité », « Validation » et « Résilience » glissent vers le nœud serveur auquel ils appartiennent.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DIRE : Le client ou l’équipe passe par un navigateur ; l’application Next.js sert les pages ; toutes les écritures et lectures sensibles passent par les Server Actions et les routes API ; Drizzle ORM écrit en SQL typé dans PostgreSQL. C’est côté serveur que sont appliqués les rôles, la validation et la limitation de débit. Brevo est un service d’e-mails transactionnels optionnel (sans clé, les messages sont rendus en HTML dans un dossier local). Aucune passerelle de paiement par carte n’est représentée : elle n’est pas intégrée.</a:t>
            </a:r>
          </a:p>
          <a:p/>
          <a:p>
            <a:r>
              <a:t>SOURCES : src/db/index.ts (pool node-postgres, Drizzle) ; src/db/schema.ts ; src/actions/*.ts (Server Actions) ; src/app/api/ (routes) ; src/lib/email/brevo.ts ; docs/DEPLOYMENT.md (BREVO_API_KEY optionnelle).</a:t>
            </a:r>
          </a:p>
          <a:p/>
          <a:p>
            <a:r>
              <a:t>TRANSITION → 11 : les cinq premiers nœuds se réduisent en repères de progression ; le nœud PostgreSQL s’élargit en grand cadre vide ; le connecteur pointillé devient le bord supérieur du cadre.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DIRE : Diagramme 01 — zone réservée. Le sujet du diagramme est à préciser par l’étudiant·e (diagramme de conception à insérer).</a:t>
            </a:r>
          </a:p>
          <a:p>
            <a:r>
              <a:t>Aucun diagramme, acteur, relation ni séquence n’est dessiné ici volontairement : supprimer ou conserver le cadre blanc « !!DiagramFrame » et coller l’image du diagramme (ou un diagramme natif) à l’intérieur ; le cadre est volontairement identique sur les cinq diapositives.</a:t>
            </a:r>
          </a:p>
          <a:p>
            <a:r>
              <a:t>Si les cinq diagrammes ne sont pas tous utilisés, supprimer la diapositive en trop : la transition Morph de la suivante restera valide.</a:t>
            </a:r>
          </a:p>
          <a:p/>
          <a:p>
            <a:r>
              <a:t>TRANSITION → 12 : le même cadre se déplace d’un cran : seuls l’index et le repère de progression changent.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DIRE : Diagramme 02 — zone réservée. Le sujet du diagramme est à préciser par l’étudiant·e (diagramme de conception à insérer).</a:t>
            </a:r>
          </a:p>
          <a:p>
            <a:r>
              <a:t>Aucun diagramme, acteur, relation ni séquence n’est dessiné ici volontairement : supprimer ou conserver le cadre blanc « !!DiagramFrame » et coller l’image du diagramme (ou un diagramme natif) à l’intérieur ; le cadre est volontairement identique sur les cinq diapositives.</a:t>
            </a:r>
          </a:p>
          <a:p>
            <a:r>
              <a:t>Si les cinq diagrammes ne sont pas tous utilisés, supprimer la diapositive en trop : la transition Morph de la suivante restera valide.</a:t>
            </a:r>
          </a:p>
          <a:p/>
          <a:p>
            <a:r>
              <a:t>TRANSITION → 13 : même cadre ; l’index et le repère avancent.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DIRE : Diagramme 03 — zone réservée. Le sujet du diagramme est à préciser par l’étudiant·e (diagramme de conception à insérer).</a:t>
            </a:r>
          </a:p>
          <a:p>
            <a:r>
              <a:t>Aucun diagramme, acteur, relation ni séquence n’est dessiné ici volontairement : supprimer ou conserver le cadre blanc « !!DiagramFrame » et coller l’image du diagramme (ou un diagramme natif) à l’intérieur ; le cadre est volontairement identique sur les cinq diapositives.</a:t>
            </a:r>
          </a:p>
          <a:p>
            <a:r>
              <a:t>Si les cinq diagrammes ne sont pas tous utilisés, supprimer la diapositive en trop : la transition Morph de la suivante restera valide.</a:t>
            </a:r>
          </a:p>
          <a:p/>
          <a:p>
            <a:r>
              <a:t>TRANSITION → 14 : même cadre ; l’index et le repère avancent.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DIRE : Diagramme 04 — zone réservée. Le sujet du diagramme est à préciser par l’étudiant·e (diagramme de conception à insérer).</a:t>
            </a:r>
          </a:p>
          <a:p>
            <a:r>
              <a:t>Aucun diagramme, acteur, relation ni séquence n’est dessiné ici volontairement : supprimer ou conserver le cadre blanc « !!DiagramFrame » et coller l’image du diagramme (ou un diagramme natif) à l’intérieur ; le cadre est volontairement identique sur les cinq diapositives.</a:t>
            </a:r>
          </a:p>
          <a:p>
            <a:r>
              <a:t>Si les cinq diagrammes ne sont pas tous utilisés, supprimer la diapositive en trop : la transition Morph de la suivante restera valide.</a:t>
            </a:r>
          </a:p>
          <a:p/>
          <a:p>
            <a:r>
              <a:t>TRANSITION → 15 : même cadre ; l’index et le repère avancent.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DIRE : Diagramme 05 — zone réservée. Le sujet du diagramme est à préciser par l’étudiant·e (diagramme de conception à insérer).</a:t>
            </a:r>
          </a:p>
          <a:p>
            <a:r>
              <a:t>Aucun diagramme, acteur, relation ni séquence n’est dessiné ici volontairement : supprimer ou conserver le cadre blanc « !!DiagramFrame » et coller l’image du diagramme (ou un diagramme natif) à l’intérieur ; le cadre est volontairement identique sur les cinq diapositives.</a:t>
            </a:r>
          </a:p>
          <a:p>
            <a:r>
              <a:t>Si les cinq diagrammes ne sont pas tous utilisés, supprimer la diapositive en trop : la transition Morph de la suivante restera valide.</a:t>
            </a:r>
          </a:p>
          <a:p/>
          <a:p>
            <a:r>
              <a:t>TRANSITION → 16 : le cadre se replie en panneau sombre ; ses quatre coins verts et le trait supérieur deviennent la grille de la fiche technique.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DIRE : Du côté client, un smartphone ou un ordinateur avec un navigateur suffit ; côté équipe, un poste de travail avec accès à l’administration. Côté logiciel : une application Next.js et une base PostgreSQL.</a:t>
            </a:r>
          </a:p>
          <a:p/>
          <a:p>
            <a:r>
              <a:t>À COMPLÉTER AVANT LA SOUTENANCE (champs modifiables en ambre) : [Processeur], [Mémoire], [Stockage], [Hébergement]. Aucune valeur n’a été supposée et aucun hébergeur n’est cité tant qu’il n’est pas confirmé.</a:t>
            </a:r>
          </a:p>
          <a:p/>
          <a:p>
            <a:r>
              <a:t>SOURCES : README.md (stack) ; docs/DEPLOYMENT.md (Node ≥ 20, PostgreSQL 17 recommandé — ces prérequis logiciels ne sont pas des caractéristiques matérielles).</a:t>
            </a:r>
          </a:p>
          <a:p/>
          <a:p>
            <a:r>
              <a:t>TRANSITION → 17 : le petit cadre vide « Accès par navigateur » s’agrandit jusqu’à devenir la scène vidéo de la démonstration client. Aucune interface n’est simulée.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DIRE : Démonstration de l’interface client. Parcours suggéré : accueil et univers, catalogue et fiche produit, panier et commande (paiement à la livraison, virement ou carte cadeau), compte et suivi de commande.</a:t>
            </a:r>
          </a:p>
          <a:p/>
          <a:p>
            <a:r>
              <a:t>À FAIRE : insérer la vraie vidéo de la vitrine (Insertion &gt; Vidéo &gt; Ce périphérique) par-dessus le rectangle sombre « !!VideoStage », puis le ranger à l’arrière-plan ou le supprimer. Aucune capture ni interface n’a été fabriquée dans cette présentation. Le parcours à droite est une suggestion modifiable.</a:t>
            </a:r>
          </a:p>
          <a:p/>
          <a:p>
            <a:r>
              <a:t>TRANSITION → 18 : la scène vidéo glisse vers la droite, passe de l’encre au vert profond ; son libellé et la colonne de parcours basculent de « client » à « administration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DIRE : Démonstration de l’interface d’administration, réservée à l’équipe et protégée par rôle. Parcours suggéré : poste de commande, produits et stocks, commandes et préparation, support et e-mails.</a:t>
            </a:r>
          </a:p>
          <a:p/>
          <a:p>
            <a:r>
              <a:t>À FAIRE : insérer la vraie vidéo de l’administration par-dessus le rectangle vert profond « !!VideoStage ». Aucune interface d’administration n’a été fabriquée dans cette présentation.</a:t>
            </a:r>
          </a:p>
          <a:p/>
          <a:p>
            <a:r>
              <a:t>TRANSITION → 19 : la scène vidéo se contracte et devient le cadre-viseur posé sur l’image de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DIRE : Ce projet a fait passer le comptoir de la parapharmacie à une plateforme : une vitrine pour découvrir, commander et suivre ; un espace d’administration pour gérer catalogue, stocks, commandes et support ; et une même base de données qui relie les deux parcours. Je n’avance aucun résultat commercial mesuré.</a:t>
            </a:r>
          </a:p>
          <a:p/>
          <a:p>
            <a:r>
              <a:t>SOURCES : synthèse des diapositives 4 à 10 ; public/images/maison.jpg (image du « comptoir », visuel de campagne du projet).</a:t>
            </a:r>
          </a:p>
          <a:p/>
          <a:p>
            <a:r>
              <a:t>TRANSITION → 20 : le titre se transforme en « MERCI POUR VOTRE ATTENTION » ; l’image se fond dans le still de campagne de la couverture ; le cadre-viseur reste en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DIRE : Merci pour votre attention — je suis disponible pour vos questions.</a:t>
            </a:r>
          </a:p>
          <a:p/>
          <a:p>
            <a:r>
              <a:t>Retour à l’identité de la couverture : marque Anton, trait vert, still de campagne (public/videos/posters/hero.jpg).</a:t>
            </a:r>
          </a:p>
          <a:p/>
          <a:p>
            <a:r>
              <a:t>FIN : la dernière transition est une Morph comme les précédentes ; aucune diapositive après celle-ci.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VisualAnchor" descr="hero.jpg"/>
          <p:cNvPicPr>
            <a:picLocks noChangeAspect="1"/>
          </p:cNvPicPr>
          <p:nvPr/>
        </p:nvPicPr>
        <p:blipFill>
          <a:blip r:embed="rId2"/>
          <a:srcRect l="10388" r="18388"/>
          <a:stretch>
            <a:fillRect/>
          </a:stretch>
        </p:blipFill>
        <p:spPr>
          <a:xfrm>
            <a:off x="4892040" y="0"/>
            <a:ext cx="7299655" cy="6858000"/>
          </a:xfrm>
          <a:prstGeom prst="rect">
            <a:avLst/>
          </a:prstGeom>
        </p:spPr>
      </p:pic>
      <p:sp>
        <p:nvSpPr>
          <p:cNvPr id="3" name="!!ProjectLabel"/>
          <p:cNvSpPr txBox="1"/>
          <p:nvPr/>
        </p:nvSpPr>
        <p:spPr>
          <a:xfrm>
            <a:off x="548640" y="1691640"/>
            <a:ext cx="420624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6600" b="0" lang="fr-FR" spc="0">
                <a:solidFill>
                  <a:srgbClr val="1D1D1F"/>
                </a:solidFill>
                <a:latin typeface="Anton"/>
              </a:rPr>
              <a:t>CLÉOPÂTRE</a:t>
            </a:r>
          </a:p>
        </p:txBody>
      </p:sp>
      <p:sp>
        <p:nvSpPr>
          <p:cNvPr id="4" name="!!ChapterIndex"/>
          <p:cNvSpPr txBox="1"/>
          <p:nvPr/>
        </p:nvSpPr>
        <p:spPr>
          <a:xfrm>
            <a:off x="548640" y="6492240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01 / 20   ·   COUVERTURE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548640" y="38404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SOUTENANCE · PROJET DE FIN D’ÉTUDES</a:t>
            </a:r>
          </a:p>
        </p:txBody>
      </p:sp>
      <p:sp>
        <p:nvSpPr>
          <p:cNvPr id="6" name="!!CleoSignal"/>
          <p:cNvSpPr/>
          <p:nvPr/>
        </p:nvSpPr>
        <p:spPr>
          <a:xfrm>
            <a:off x="548640" y="1280160"/>
            <a:ext cx="4023360" cy="91440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MorphHeadline"/>
          <p:cNvSpPr txBox="1"/>
          <p:nvPr/>
        </p:nvSpPr>
        <p:spPr>
          <a:xfrm>
            <a:off x="548640" y="2834640"/>
            <a:ext cx="4206240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400" b="1" lang="fr-FR">
                <a:solidFill>
                  <a:srgbClr val="1D1D1F"/>
                </a:solidFill>
                <a:latin typeface="Instrument Sans"/>
              </a:rPr>
              <a:t>Conception et réalisation d’une plateforme e-commerce pour une parapharmacie</a:t>
            </a:r>
          </a:p>
        </p:txBody>
      </p:sp>
      <p:cxnSp>
        <p:nvCxnSpPr>
          <p:cNvPr id="8" name="!!NarrativePath"/>
          <p:cNvCxnSpPr/>
          <p:nvPr/>
        </p:nvCxnSpPr>
        <p:spPr>
          <a:xfrm>
            <a:off x="548640" y="4956048"/>
            <a:ext cx="4023360" cy="0"/>
          </a:xfrm>
          <a:prstGeom prst="line">
            <a:avLst/>
          </a:prstGeom>
          <a:ln w="9525">
            <a:solidFill>
              <a:srgbClr val="AAAAAA"/>
            </a:solidFill>
          </a:ln>
        </p:spPr>
      </p:cxnSp>
      <p:sp>
        <p:nvSpPr>
          <p:cNvPr id="9" name="Libellé PRÉSENTÉ PAR"/>
          <p:cNvSpPr txBox="1"/>
          <p:nvPr/>
        </p:nvSpPr>
        <p:spPr>
          <a:xfrm>
            <a:off x="548640" y="518464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 spc="40">
                <a:solidFill>
                  <a:srgbClr val="6E6E73"/>
                </a:solidFill>
                <a:latin typeface="JetBrains Mono"/>
              </a:rPr>
              <a:t>PRÉSENTÉ PAR</a:t>
            </a:r>
          </a:p>
        </p:txBody>
      </p:sp>
      <p:sp>
        <p:nvSpPr>
          <p:cNvPr id="10" name="Champ PRÉSENTÉ PAR"/>
          <p:cNvSpPr txBox="1"/>
          <p:nvPr/>
        </p:nvSpPr>
        <p:spPr>
          <a:xfrm>
            <a:off x="2057400" y="513892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 lang="fr-FR">
                <a:solidFill>
                  <a:srgbClr val="1D1D1F"/>
                </a:solidFill>
                <a:latin typeface="Instrument Sans"/>
              </a:rPr>
              <a:t>[Nom de l’étudiant·e]</a:t>
            </a:r>
          </a:p>
        </p:txBody>
      </p:sp>
      <p:sp>
        <p:nvSpPr>
          <p:cNvPr id="11" name="Libellé ENCADRANT"/>
          <p:cNvSpPr txBox="1"/>
          <p:nvPr/>
        </p:nvSpPr>
        <p:spPr>
          <a:xfrm>
            <a:off x="548640" y="5513832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 spc="40">
                <a:solidFill>
                  <a:srgbClr val="6E6E73"/>
                </a:solidFill>
                <a:latin typeface="JetBrains Mono"/>
              </a:rPr>
              <a:t>ENCADRANT</a:t>
            </a:r>
          </a:p>
        </p:txBody>
      </p:sp>
      <p:sp>
        <p:nvSpPr>
          <p:cNvPr id="12" name="Champ ENCADRANT"/>
          <p:cNvSpPr txBox="1"/>
          <p:nvPr/>
        </p:nvSpPr>
        <p:spPr>
          <a:xfrm>
            <a:off x="2057400" y="546811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 lang="fr-FR">
                <a:solidFill>
                  <a:srgbClr val="1D1D1F"/>
                </a:solidFill>
                <a:latin typeface="Instrument Sans"/>
              </a:rPr>
              <a:t>[Encadrant]</a:t>
            </a:r>
          </a:p>
        </p:txBody>
      </p:sp>
      <p:sp>
        <p:nvSpPr>
          <p:cNvPr id="13" name="Libellé ÉTABLISSEMENT"/>
          <p:cNvSpPr txBox="1"/>
          <p:nvPr/>
        </p:nvSpPr>
        <p:spPr>
          <a:xfrm>
            <a:off x="548640" y="5843016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 spc="40">
                <a:solidFill>
                  <a:srgbClr val="6E6E73"/>
                </a:solidFill>
                <a:latin typeface="JetBrains Mono"/>
              </a:rPr>
              <a:t>ÉTABLISSEMENT</a:t>
            </a:r>
          </a:p>
        </p:txBody>
      </p:sp>
      <p:sp>
        <p:nvSpPr>
          <p:cNvPr id="14" name="Champ ÉTABLISSEMENT"/>
          <p:cNvSpPr txBox="1"/>
          <p:nvPr/>
        </p:nvSpPr>
        <p:spPr>
          <a:xfrm>
            <a:off x="2057400" y="579729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 lang="fr-FR">
                <a:solidFill>
                  <a:srgbClr val="1D1D1F"/>
                </a:solidFill>
                <a:latin typeface="Instrument Sans"/>
              </a:rPr>
              <a:t>[Établissement]</a:t>
            </a:r>
          </a:p>
        </p:txBody>
      </p:sp>
      <p:sp>
        <p:nvSpPr>
          <p:cNvPr id="15" name="Champ Année"/>
          <p:cNvSpPr txBox="1"/>
          <p:nvPr/>
        </p:nvSpPr>
        <p:spPr>
          <a:xfrm>
            <a:off x="2057400" y="612648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 lang="fr-FR">
                <a:solidFill>
                  <a:srgbClr val="1D1D1F"/>
                </a:solidFill>
                <a:latin typeface="Instrument Sans"/>
              </a:rPr>
              <a:t>[Année universitaire]</a:t>
            </a:r>
          </a:p>
        </p:txBody>
      </p:sp>
      <p:sp>
        <p:nvSpPr>
          <p:cNvPr id="16" name="Libellé ANNÉE"/>
          <p:cNvSpPr txBox="1"/>
          <p:nvPr/>
        </p:nvSpPr>
        <p:spPr>
          <a:xfrm>
            <a:off x="548640" y="6172200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 spc="40">
                <a:solidFill>
                  <a:srgbClr val="6E6E73"/>
                </a:solidFill>
                <a:latin typeface="JetBrains Mono"/>
              </a:rPr>
              <a:t>ANNÉE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VisualAnchor" descr="hero.jpg"/>
          <p:cNvPicPr>
            <a:picLocks noChangeAspect="1"/>
          </p:cNvPicPr>
          <p:nvPr/>
        </p:nvPicPr>
        <p:blipFill>
          <a:blip r:embed="rId2"/>
          <a:srcRect l="17980" r="31980"/>
          <a:stretch>
            <a:fillRect/>
          </a:stretch>
        </p:blipFill>
        <p:spPr>
          <a:xfrm>
            <a:off x="548640" y="1051560"/>
            <a:ext cx="3931920" cy="5257800"/>
          </a:xfrm>
          <a:prstGeom prst="rect">
            <a:avLst/>
          </a:prstGeom>
        </p:spPr>
      </p:pic>
      <p:sp>
        <p:nvSpPr>
          <p:cNvPr id="3" name="!!ProjectLabel"/>
          <p:cNvSpPr txBox="1"/>
          <p:nvPr/>
        </p:nvSpPr>
        <p:spPr>
          <a:xfrm>
            <a:off x="548640" y="31089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lang="fr-FR" spc="150">
                <a:solidFill>
                  <a:srgbClr val="1D1D1F"/>
                </a:solidFill>
                <a:latin typeface="Anton"/>
              </a:rPr>
              <a:t>CLÉOPÂTRE</a:t>
            </a:r>
          </a:p>
        </p:txBody>
      </p:sp>
      <p:sp>
        <p:nvSpPr>
          <p:cNvPr id="4" name="!!ChapterIndex"/>
          <p:cNvSpPr txBox="1"/>
          <p:nvPr/>
        </p:nvSpPr>
        <p:spPr>
          <a:xfrm>
            <a:off x="5239512" y="36576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02 / 20   ·   INTRODUCTION</a:t>
            </a:r>
          </a:p>
        </p:txBody>
      </p:sp>
      <p:sp>
        <p:nvSpPr>
          <p:cNvPr id="5" name="!!CleoSignal"/>
          <p:cNvSpPr/>
          <p:nvPr/>
        </p:nvSpPr>
        <p:spPr>
          <a:xfrm>
            <a:off x="5120640" y="1051560"/>
            <a:ext cx="822960" cy="91440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MorphHeadline"/>
          <p:cNvSpPr txBox="1"/>
          <p:nvPr/>
        </p:nvSpPr>
        <p:spPr>
          <a:xfrm>
            <a:off x="5120640" y="1371600"/>
            <a:ext cx="6492240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lang="fr-FR">
                <a:solidFill>
                  <a:srgbClr val="1D1D1F"/>
                </a:solidFill>
                <a:latin typeface="Instrument Sans"/>
              </a:rPr>
              <a:t>Une plateforme pour une parapharmacie d’Ezzahra et de Hammam-Lif</a:t>
            </a:r>
          </a:p>
        </p:txBody>
      </p:sp>
      <p:sp>
        <p:nvSpPr>
          <p:cNvPr id="7" name="Texte introduction"/>
          <p:cNvSpPr txBox="1"/>
          <p:nvPr/>
        </p:nvSpPr>
        <p:spPr>
          <a:xfrm>
            <a:off x="5120640" y="3200400"/>
            <a:ext cx="630936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0" lang="fr-FR">
                <a:solidFill>
                  <a:srgbClr val="6E6E73"/>
                </a:solidFill>
                <a:latin typeface="Instrument Sans"/>
              </a:rPr>
              <a:t>Cléopâtre est une parapharmacie implantée à Ezzahra et à Hammam-Lif, en Tunisie. Ce projet repense son identité en ligne et construit sa plateforme, de A à Z.</a:t>
            </a:r>
          </a:p>
        </p:txBody>
      </p:sp>
      <p:cxnSp>
        <p:nvCxnSpPr>
          <p:cNvPr id="8" name="!!NarrativePath"/>
          <p:cNvCxnSpPr/>
          <p:nvPr/>
        </p:nvCxnSpPr>
        <p:spPr>
          <a:xfrm>
            <a:off x="5120640" y="4572000"/>
            <a:ext cx="6519672" cy="0"/>
          </a:xfrm>
          <a:prstGeom prst="line">
            <a:avLst/>
          </a:prstGeom>
          <a:ln w="12700">
            <a:solidFill>
              <a:srgbClr val="1D1D1F"/>
            </a:solidFill>
          </a:ln>
        </p:spPr>
      </p:cxnSp>
      <p:sp>
        <p:nvSpPr>
          <p:cNvPr id="9" name="Fiche LIEUX"/>
          <p:cNvSpPr txBox="1"/>
          <p:nvPr/>
        </p:nvSpPr>
        <p:spPr>
          <a:xfrm>
            <a:off x="5120640" y="4773168"/>
            <a:ext cx="20574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LIEUX</a:t>
            </a:r>
          </a:p>
          <a:p>
            <a:pPr algn="l">
              <a:spcAft>
                <a:spcPts val="0"/>
              </a:spcAft>
            </a:pPr>
            <a:r>
              <a:rPr sz="2000" b="1" lang="fr-FR">
                <a:solidFill>
                  <a:srgbClr val="1D1D1F"/>
                </a:solidFill>
                <a:latin typeface="Instrument Sans"/>
              </a:rPr>
              <a:t>Ezzahra · Hammam-Lif</a:t>
            </a:r>
          </a:p>
        </p:txBody>
      </p:sp>
      <p:sp>
        <p:nvSpPr>
          <p:cNvPr id="10" name="Fiche PÉRIMÈTRE"/>
          <p:cNvSpPr txBox="1"/>
          <p:nvPr/>
        </p:nvSpPr>
        <p:spPr>
          <a:xfrm>
            <a:off x="7333488" y="4773168"/>
            <a:ext cx="20574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PÉRIMÈTRE</a:t>
            </a:r>
          </a:p>
          <a:p>
            <a:pPr algn="l">
              <a:spcAft>
                <a:spcPts val="0"/>
              </a:spcAft>
            </a:pPr>
            <a:r>
              <a:rPr sz="2000" b="1" lang="fr-FR">
                <a:solidFill>
                  <a:srgbClr val="1D1D1F"/>
                </a:solidFill>
                <a:latin typeface="Instrument Sans"/>
              </a:rPr>
              <a:t>Vitrine et administration</a:t>
            </a:r>
          </a:p>
        </p:txBody>
      </p:sp>
      <p:sp>
        <p:nvSpPr>
          <p:cNvPr id="11" name="Fiche RÔLE"/>
          <p:cNvSpPr txBox="1"/>
          <p:nvPr/>
        </p:nvSpPr>
        <p:spPr>
          <a:xfrm>
            <a:off x="9546336" y="4773168"/>
            <a:ext cx="20574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RÔLE</a:t>
            </a:r>
          </a:p>
          <a:p>
            <a:pPr algn="l">
              <a:spcAft>
                <a:spcPts val="0"/>
              </a:spcAft>
            </a:pPr>
            <a:r>
              <a:rPr sz="2000" b="1" lang="fr-FR">
                <a:solidFill>
                  <a:srgbClr val="1D1D1F"/>
                </a:solidFill>
                <a:latin typeface="Instrument Sans"/>
              </a:rPr>
              <a:t>Conception et développement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900">
        <p159:morph option="byWord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VisualAnchor" descr="hero.jpg"/>
          <p:cNvPicPr>
            <a:picLocks noChangeAspect="1"/>
          </p:cNvPicPr>
          <p:nvPr/>
        </p:nvPicPr>
        <p:blipFill>
          <a:blip r:embed="rId2"/>
          <a:srcRect l="28126" r="68126"/>
          <a:stretch>
            <a:fillRect/>
          </a:stretch>
        </p:blipFill>
        <p:spPr>
          <a:xfrm>
            <a:off x="0" y="0"/>
            <a:ext cx="384048" cy="6858000"/>
          </a:xfrm>
          <a:prstGeom prst="rect">
            <a:avLst/>
          </a:prstGeom>
        </p:spPr>
      </p:pic>
      <p:sp>
        <p:nvSpPr>
          <p:cNvPr id="3" name="!!ProjectLabel"/>
          <p:cNvSpPr txBox="1"/>
          <p:nvPr/>
        </p:nvSpPr>
        <p:spPr>
          <a:xfrm>
            <a:off x="548640" y="31089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lang="fr-FR" spc="150">
                <a:solidFill>
                  <a:srgbClr val="1D1D1F"/>
                </a:solidFill>
                <a:latin typeface="Anton"/>
              </a:rPr>
              <a:t>CLÉOPÂTRE</a:t>
            </a:r>
          </a:p>
        </p:txBody>
      </p:sp>
      <p:sp>
        <p:nvSpPr>
          <p:cNvPr id="4" name="!!ChapterIndex"/>
          <p:cNvSpPr txBox="1"/>
          <p:nvPr/>
        </p:nvSpPr>
        <p:spPr>
          <a:xfrm>
            <a:off x="5239512" y="36576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03 / 20   ·   PROBLÉMATIQUE</a:t>
            </a:r>
          </a:p>
        </p:txBody>
      </p:sp>
      <p:sp>
        <p:nvSpPr>
          <p:cNvPr id="5" name="!!CleoSignal"/>
          <p:cNvSpPr/>
          <p:nvPr/>
        </p:nvSpPr>
        <p:spPr>
          <a:xfrm>
            <a:off x="914400" y="1481328"/>
            <a:ext cx="91440" cy="3246120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MorphHeadline"/>
          <p:cNvSpPr txBox="1"/>
          <p:nvPr/>
        </p:nvSpPr>
        <p:spPr>
          <a:xfrm>
            <a:off x="1280160" y="1371600"/>
            <a:ext cx="996696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600" b="1" lang="fr-FR">
                <a:solidFill>
                  <a:srgbClr val="1D1D1F"/>
                </a:solidFill>
                <a:latin typeface="Instrument Sans"/>
              </a:rPr>
              <a:t>Comment proposer une expérience en ligne claire pour découvrir les produits, commander et suivre ses demandes,</a:t>
            </a:r>
          </a:p>
        </p:txBody>
      </p:sp>
      <p:sp>
        <p:nvSpPr>
          <p:cNvPr id="7" name="!!QuestionTeam"/>
          <p:cNvSpPr txBox="1"/>
          <p:nvPr/>
        </p:nvSpPr>
        <p:spPr>
          <a:xfrm>
            <a:off x="1280160" y="3401568"/>
            <a:ext cx="9966960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600" b="1" lang="fr-FR">
                <a:solidFill>
                  <a:srgbClr val="075E46"/>
                </a:solidFill>
                <a:latin typeface="Instrument Sans"/>
              </a:rPr>
              <a:t>tout en donnant à l’équipe des outils adaptés à la gestion de la parapharmacie ?</a:t>
            </a:r>
          </a:p>
        </p:txBody>
      </p:sp>
      <p:cxnSp>
        <p:nvCxnSpPr>
          <p:cNvPr id="8" name="!!NarrativePath"/>
          <p:cNvCxnSpPr/>
          <p:nvPr/>
        </p:nvCxnSpPr>
        <p:spPr>
          <a:xfrm>
            <a:off x="1280160" y="5257800"/>
            <a:ext cx="9994392" cy="0"/>
          </a:xfrm>
          <a:prstGeom prst="line">
            <a:avLst/>
          </a:prstGeom>
          <a:ln w="19050">
            <a:solidFill>
              <a:srgbClr val="1D1D1F"/>
            </a:solidFill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rojectLabel"/>
          <p:cNvSpPr txBox="1"/>
          <p:nvPr/>
        </p:nvSpPr>
        <p:spPr>
          <a:xfrm>
            <a:off x="548640" y="31089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lang="fr-FR" spc="150">
                <a:solidFill>
                  <a:srgbClr val="1D1D1F"/>
                </a:solidFill>
                <a:latin typeface="Anton"/>
              </a:rPr>
              <a:t>CLÉOPÂTRE</a:t>
            </a:r>
          </a:p>
        </p:txBody>
      </p:sp>
      <p:sp>
        <p:nvSpPr>
          <p:cNvPr id="3" name="!!ChapterIndex"/>
          <p:cNvSpPr txBox="1"/>
          <p:nvPr/>
        </p:nvSpPr>
        <p:spPr>
          <a:xfrm>
            <a:off x="5239512" y="36576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04 / 20   ·   SOLUTION PROPOSÉE</a:t>
            </a:r>
          </a:p>
        </p:txBody>
      </p:sp>
      <p:sp>
        <p:nvSpPr>
          <p:cNvPr id="4" name="Titre section"/>
          <p:cNvSpPr txBox="1"/>
          <p:nvPr/>
        </p:nvSpPr>
        <p:spPr>
          <a:xfrm>
            <a:off x="548640" y="804672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000" b="1" lang="fr-FR">
                <a:solidFill>
                  <a:srgbClr val="1D1D1F"/>
                </a:solidFill>
                <a:latin typeface="Instrument Sans"/>
              </a:rPr>
              <a:t>Solution proposée</a:t>
            </a:r>
          </a:p>
        </p:txBody>
      </p:sp>
      <p:sp>
        <p:nvSpPr>
          <p:cNvPr id="5" name="Sous-titre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 lang="fr-FR">
                <a:solidFill>
                  <a:srgbClr val="6E6E73"/>
                </a:solidFill>
                <a:latin typeface="Instrument Sans"/>
              </a:rPr>
              <a:t>Deux espaces distincts, alimentés par une même base de données.</a:t>
            </a:r>
          </a:p>
        </p:txBody>
      </p:sp>
      <p:pic>
        <p:nvPicPr>
          <p:cNvPr id="6" name="Image Client" descr="u-visage.jpg"/>
          <p:cNvPicPr>
            <a:picLocks noChangeAspect="1"/>
          </p:cNvPicPr>
          <p:nvPr/>
        </p:nvPicPr>
        <p:blipFill>
          <a:blip r:embed="rId2"/>
          <a:srcRect t="7093" b="37093"/>
          <a:stretch>
            <a:fillRect/>
          </a:stretch>
        </p:blipFill>
        <p:spPr>
          <a:xfrm>
            <a:off x="548640" y="2103120"/>
            <a:ext cx="1737360" cy="1737360"/>
          </a:xfrm>
          <a:prstGeom prst="rect">
            <a:avLst/>
          </a:prstGeom>
        </p:spPr>
      </p:pic>
      <p:sp>
        <p:nvSpPr>
          <p:cNvPr id="7" name="!!MorphHeadline"/>
          <p:cNvSpPr txBox="1"/>
          <p:nvPr/>
        </p:nvSpPr>
        <p:spPr>
          <a:xfrm>
            <a:off x="2651760" y="2066544"/>
            <a:ext cx="54864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lang="fr-FR">
                <a:solidFill>
                  <a:srgbClr val="1D1D1F"/>
                </a:solidFill>
                <a:latin typeface="Instrument Sans"/>
              </a:rPr>
              <a:t>Client</a:t>
            </a:r>
          </a:p>
        </p:txBody>
      </p:sp>
      <p:sp>
        <p:nvSpPr>
          <p:cNvPr id="8" name="Étiquette Client"/>
          <p:cNvSpPr txBox="1"/>
          <p:nvPr/>
        </p:nvSpPr>
        <p:spPr>
          <a:xfrm>
            <a:off x="2651760" y="267004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ESPACE PUBLIC · VITRINE</a:t>
            </a:r>
          </a:p>
        </p:txBody>
      </p:sp>
      <p:cxnSp>
        <p:nvCxnSpPr>
          <p:cNvPr id="9" name="!!PathClient"/>
          <p:cNvCxnSpPr/>
          <p:nvPr/>
        </p:nvCxnSpPr>
        <p:spPr>
          <a:xfrm>
            <a:off x="2651760" y="3584448"/>
            <a:ext cx="8988552" cy="0"/>
          </a:xfrm>
          <a:prstGeom prst="line">
            <a:avLst/>
          </a:prstGeom>
          <a:ln w="19050">
            <a:solidFill>
              <a:srgbClr val="075E46"/>
            </a:solidFill>
            <a:tailEnd type="triangle" w="med" len="med"/>
          </a:ln>
        </p:spPr>
      </p:cxnSp>
      <p:sp>
        <p:nvSpPr>
          <p:cNvPr id="10" name="Repère Client 1"/>
          <p:cNvSpPr/>
          <p:nvPr/>
        </p:nvSpPr>
        <p:spPr>
          <a:xfrm>
            <a:off x="2651760" y="3502152"/>
            <a:ext cx="164592" cy="164592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Étape Client 1"/>
          <p:cNvSpPr txBox="1"/>
          <p:nvPr/>
        </p:nvSpPr>
        <p:spPr>
          <a:xfrm>
            <a:off x="2651760" y="3108960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 lang="fr-FR">
                <a:solidFill>
                  <a:srgbClr val="1D1D1F"/>
                </a:solidFill>
                <a:latin typeface="Instrument Sans"/>
              </a:rPr>
              <a:t>Découvrir</a:t>
            </a:r>
          </a:p>
        </p:txBody>
      </p:sp>
      <p:sp>
        <p:nvSpPr>
          <p:cNvPr id="12" name="Repère Client 2"/>
          <p:cNvSpPr/>
          <p:nvPr/>
        </p:nvSpPr>
        <p:spPr>
          <a:xfrm>
            <a:off x="5029200" y="3502152"/>
            <a:ext cx="164592" cy="164592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Étape Client 2"/>
          <p:cNvSpPr txBox="1"/>
          <p:nvPr/>
        </p:nvSpPr>
        <p:spPr>
          <a:xfrm>
            <a:off x="5029200" y="3108960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 lang="fr-FR">
                <a:solidFill>
                  <a:srgbClr val="1D1D1F"/>
                </a:solidFill>
                <a:latin typeface="Instrument Sans"/>
              </a:rPr>
              <a:t>Choisir</a:t>
            </a:r>
          </a:p>
        </p:txBody>
      </p:sp>
      <p:sp>
        <p:nvSpPr>
          <p:cNvPr id="14" name="Repère Client 3"/>
          <p:cNvSpPr/>
          <p:nvPr/>
        </p:nvSpPr>
        <p:spPr>
          <a:xfrm>
            <a:off x="7406640" y="3502152"/>
            <a:ext cx="164592" cy="164592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Étape Client 3"/>
          <p:cNvSpPr txBox="1"/>
          <p:nvPr/>
        </p:nvSpPr>
        <p:spPr>
          <a:xfrm>
            <a:off x="7406640" y="3108960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 lang="fr-FR">
                <a:solidFill>
                  <a:srgbClr val="1D1D1F"/>
                </a:solidFill>
                <a:latin typeface="Instrument Sans"/>
              </a:rPr>
              <a:t>Commander</a:t>
            </a:r>
          </a:p>
        </p:txBody>
      </p:sp>
      <p:sp>
        <p:nvSpPr>
          <p:cNvPr id="16" name="Repère Client 4"/>
          <p:cNvSpPr/>
          <p:nvPr/>
        </p:nvSpPr>
        <p:spPr>
          <a:xfrm>
            <a:off x="9784080" y="3502152"/>
            <a:ext cx="164592" cy="164592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Étape Client 4"/>
          <p:cNvSpPr txBox="1"/>
          <p:nvPr/>
        </p:nvSpPr>
        <p:spPr>
          <a:xfrm>
            <a:off x="9784080" y="3108960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 lang="fr-FR">
                <a:solidFill>
                  <a:srgbClr val="1D1D1F"/>
                </a:solidFill>
                <a:latin typeface="Instrument Sans"/>
              </a:rPr>
              <a:t>Suivre</a:t>
            </a:r>
          </a:p>
        </p:txBody>
      </p:sp>
      <p:pic>
        <p:nvPicPr>
          <p:cNvPr id="18" name="Image Administration" descr="atelier.jpg"/>
          <p:cNvPicPr>
            <a:picLocks noChangeAspect="1"/>
          </p:cNvPicPr>
          <p:nvPr/>
        </p:nvPicPr>
        <p:blipFill>
          <a:blip r:embed="rId3"/>
          <a:srcRect t="4722" b="14722"/>
          <a:stretch>
            <a:fillRect/>
          </a:stretch>
        </p:blipFill>
        <p:spPr>
          <a:xfrm>
            <a:off x="548640" y="4526280"/>
            <a:ext cx="1737360" cy="1737360"/>
          </a:xfrm>
          <a:prstGeom prst="rect">
            <a:avLst/>
          </a:prstGeom>
        </p:spPr>
      </p:pic>
      <p:sp>
        <p:nvSpPr>
          <p:cNvPr id="19" name="!!QuestionTeam"/>
          <p:cNvSpPr txBox="1"/>
          <p:nvPr/>
        </p:nvSpPr>
        <p:spPr>
          <a:xfrm>
            <a:off x="2651760" y="4489704"/>
            <a:ext cx="54864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 lang="fr-FR">
                <a:solidFill>
                  <a:srgbClr val="1D1D1F"/>
                </a:solidFill>
                <a:latin typeface="Instrument Sans"/>
              </a:rPr>
              <a:t>Administration</a:t>
            </a:r>
          </a:p>
        </p:txBody>
      </p:sp>
      <p:sp>
        <p:nvSpPr>
          <p:cNvPr id="20" name="Étiquette Administration"/>
          <p:cNvSpPr txBox="1"/>
          <p:nvPr/>
        </p:nvSpPr>
        <p:spPr>
          <a:xfrm>
            <a:off x="2651760" y="509320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ESPACE PROTÉGÉ · ÉQUIPE</a:t>
            </a:r>
          </a:p>
        </p:txBody>
      </p:sp>
      <p:cxnSp>
        <p:nvCxnSpPr>
          <p:cNvPr id="21" name="!!PathAdmin"/>
          <p:cNvCxnSpPr/>
          <p:nvPr/>
        </p:nvCxnSpPr>
        <p:spPr>
          <a:xfrm>
            <a:off x="2651760" y="6007608"/>
            <a:ext cx="8988552" cy="0"/>
          </a:xfrm>
          <a:prstGeom prst="line">
            <a:avLst/>
          </a:prstGeom>
          <a:ln w="19050">
            <a:solidFill>
              <a:srgbClr val="1D1D1F"/>
            </a:solidFill>
            <a:tailEnd type="triangle" w="med" len="med"/>
          </a:ln>
        </p:spPr>
      </p:cxnSp>
      <p:sp>
        <p:nvSpPr>
          <p:cNvPr id="22" name="Repère Administration 1"/>
          <p:cNvSpPr/>
          <p:nvPr/>
        </p:nvSpPr>
        <p:spPr>
          <a:xfrm>
            <a:off x="2651760" y="5925312"/>
            <a:ext cx="164592" cy="164592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Étape Administration 1"/>
          <p:cNvSpPr txBox="1"/>
          <p:nvPr/>
        </p:nvSpPr>
        <p:spPr>
          <a:xfrm>
            <a:off x="2651760" y="5532120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 lang="fr-FR">
                <a:solidFill>
                  <a:srgbClr val="1D1D1F"/>
                </a:solidFill>
                <a:latin typeface="Instrument Sans"/>
              </a:rPr>
              <a:t>Catalogue</a:t>
            </a:r>
          </a:p>
        </p:txBody>
      </p:sp>
      <p:sp>
        <p:nvSpPr>
          <p:cNvPr id="24" name="Repère Administration 2"/>
          <p:cNvSpPr/>
          <p:nvPr/>
        </p:nvSpPr>
        <p:spPr>
          <a:xfrm>
            <a:off x="5029200" y="5925312"/>
            <a:ext cx="164592" cy="164592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Étape Administration 2"/>
          <p:cNvSpPr txBox="1"/>
          <p:nvPr/>
        </p:nvSpPr>
        <p:spPr>
          <a:xfrm>
            <a:off x="5029200" y="5532120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 lang="fr-FR">
                <a:solidFill>
                  <a:srgbClr val="1D1D1F"/>
                </a:solidFill>
                <a:latin typeface="Instrument Sans"/>
              </a:rPr>
              <a:t>Stocks</a:t>
            </a:r>
          </a:p>
        </p:txBody>
      </p:sp>
      <p:sp>
        <p:nvSpPr>
          <p:cNvPr id="26" name="Repère Administration 3"/>
          <p:cNvSpPr/>
          <p:nvPr/>
        </p:nvSpPr>
        <p:spPr>
          <a:xfrm>
            <a:off x="7406640" y="5925312"/>
            <a:ext cx="164592" cy="164592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Étape Administration 3"/>
          <p:cNvSpPr txBox="1"/>
          <p:nvPr/>
        </p:nvSpPr>
        <p:spPr>
          <a:xfrm>
            <a:off x="7406640" y="5532120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 lang="fr-FR">
                <a:solidFill>
                  <a:srgbClr val="1D1D1F"/>
                </a:solidFill>
                <a:latin typeface="Instrument Sans"/>
              </a:rPr>
              <a:t>Commandes</a:t>
            </a:r>
          </a:p>
        </p:txBody>
      </p:sp>
      <p:sp>
        <p:nvSpPr>
          <p:cNvPr id="28" name="Repère Administration 4"/>
          <p:cNvSpPr/>
          <p:nvPr/>
        </p:nvSpPr>
        <p:spPr>
          <a:xfrm>
            <a:off x="9784080" y="5925312"/>
            <a:ext cx="164592" cy="164592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Étape Administration 4"/>
          <p:cNvSpPr txBox="1"/>
          <p:nvPr/>
        </p:nvSpPr>
        <p:spPr>
          <a:xfrm>
            <a:off x="9784080" y="5532120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 lang="fr-FR">
                <a:solidFill>
                  <a:srgbClr val="1D1D1F"/>
                </a:solidFill>
                <a:latin typeface="Instrument Sans"/>
              </a:rPr>
              <a:t>Relation client</a:t>
            </a:r>
          </a:p>
        </p:txBody>
      </p:sp>
      <p:cxnSp>
        <p:nvCxnSpPr>
          <p:cNvPr id="30" name="!!NarrativePath"/>
          <p:cNvCxnSpPr/>
          <p:nvPr/>
        </p:nvCxnSpPr>
        <p:spPr>
          <a:xfrm>
            <a:off x="1417320" y="3840480"/>
            <a:ext cx="0" cy="685800"/>
          </a:xfrm>
          <a:prstGeom prst="line">
            <a:avLst/>
          </a:prstGeom>
          <a:ln w="25400">
            <a:solidFill>
              <a:srgbClr val="1D1D1F"/>
            </a:solidFill>
            <a:headEnd type="triangle" w="med" len="med"/>
            <a:tailEnd type="triangle" w="med" len="med"/>
          </a:ln>
        </p:spPr>
      </p:cxnSp>
      <p:sp>
        <p:nvSpPr>
          <p:cNvPr id="31" name="!!CleoSignal"/>
          <p:cNvSpPr/>
          <p:nvPr/>
        </p:nvSpPr>
        <p:spPr>
          <a:xfrm>
            <a:off x="1325880" y="4082796"/>
            <a:ext cx="182880" cy="182880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Légende liaison"/>
          <p:cNvSpPr txBox="1"/>
          <p:nvPr/>
        </p:nvSpPr>
        <p:spPr>
          <a:xfrm>
            <a:off x="2651760" y="4023360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lang="fr-FR">
                <a:solidFill>
                  <a:srgbClr val="6E6E73"/>
                </a:solidFill>
                <a:latin typeface="Instrument Sans"/>
              </a:rPr>
              <a:t>Mêmes données, même base PostgreSQL : ce que l’équipe gère est ce que le client voit.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rojectLabel"/>
          <p:cNvSpPr txBox="1"/>
          <p:nvPr/>
        </p:nvSpPr>
        <p:spPr>
          <a:xfrm>
            <a:off x="548640" y="31089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lang="fr-FR" spc="150">
                <a:solidFill>
                  <a:srgbClr val="1D1D1F"/>
                </a:solidFill>
                <a:latin typeface="Anton"/>
              </a:rPr>
              <a:t>CLÉOPÂTRE</a:t>
            </a:r>
          </a:p>
        </p:txBody>
      </p:sp>
      <p:sp>
        <p:nvSpPr>
          <p:cNvPr id="3" name="!!ChapterIndex"/>
          <p:cNvSpPr txBox="1"/>
          <p:nvPr/>
        </p:nvSpPr>
        <p:spPr>
          <a:xfrm>
            <a:off x="5239512" y="36576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05 / 20   ·   PLAN</a:t>
            </a:r>
          </a:p>
        </p:txBody>
      </p:sp>
      <p:sp>
        <p:nvSpPr>
          <p:cNvPr id="4" name="!!MorphHeadline"/>
          <p:cNvSpPr txBox="1"/>
          <p:nvPr/>
        </p:nvSpPr>
        <p:spPr>
          <a:xfrm>
            <a:off x="548640" y="868680"/>
            <a:ext cx="3931920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12000" b="0" lang="fr-FR">
                <a:solidFill>
                  <a:srgbClr val="1D1D1F"/>
                </a:solidFill>
                <a:latin typeface="Anton"/>
              </a:rPr>
              <a:t>PLAN</a:t>
            </a:r>
          </a:p>
        </p:txBody>
      </p:sp>
      <p:sp>
        <p:nvSpPr>
          <p:cNvPr id="5" name="!!CleoSignal"/>
          <p:cNvSpPr/>
          <p:nvPr/>
        </p:nvSpPr>
        <p:spPr>
          <a:xfrm>
            <a:off x="548640" y="3063240"/>
            <a:ext cx="1097280" cy="91440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ous-titre plan"/>
          <p:cNvSpPr txBox="1"/>
          <p:nvPr/>
        </p:nvSpPr>
        <p:spPr>
          <a:xfrm>
            <a:off x="548640" y="3383280"/>
            <a:ext cx="356616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0" lang="fr-FR">
                <a:solidFill>
                  <a:srgbClr val="6E6E73"/>
                </a:solidFill>
                <a:latin typeface="Instrument Sans"/>
              </a:rPr>
              <a:t>Huit temps pour aller du contexte à la démonstration des interfaces.</a:t>
            </a:r>
          </a:p>
        </p:txBody>
      </p:sp>
      <p:sp>
        <p:nvSpPr>
          <p:cNvPr id="7" name="Étiquette colonne 1"/>
          <p:cNvSpPr txBox="1"/>
          <p:nvPr/>
        </p:nvSpPr>
        <p:spPr>
          <a:xfrm>
            <a:off x="5029200" y="914400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CONTEXTE ET BESOINS</a:t>
            </a:r>
          </a:p>
        </p:txBody>
      </p:sp>
      <p:sp>
        <p:nvSpPr>
          <p:cNvPr id="8" name="Étiquette colonne 2"/>
          <p:cNvSpPr txBox="1"/>
          <p:nvPr/>
        </p:nvSpPr>
        <p:spPr>
          <a:xfrm>
            <a:off x="8595360" y="91440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RÉALISATION ET DÉMONSTRATION</a:t>
            </a:r>
          </a:p>
        </p:txBody>
      </p:sp>
      <p:cxnSp>
        <p:nvCxnSpPr>
          <p:cNvPr id="9" name="!!NarrativePath"/>
          <p:cNvCxnSpPr/>
          <p:nvPr/>
        </p:nvCxnSpPr>
        <p:spPr>
          <a:xfrm>
            <a:off x="5029200" y="1280160"/>
            <a:ext cx="6611112" cy="0"/>
          </a:xfrm>
          <a:prstGeom prst="line">
            <a:avLst/>
          </a:prstGeom>
          <a:ln w="12700">
            <a:solidFill>
              <a:srgbClr val="1D1D1F"/>
            </a:solidFill>
          </a:ln>
        </p:spPr>
      </p:cxnSp>
      <p:cxnSp>
        <p:nvCxnSpPr>
          <p:cNvPr id="10" name="!!PathClient"/>
          <p:cNvCxnSpPr/>
          <p:nvPr/>
        </p:nvCxnSpPr>
        <p:spPr>
          <a:xfrm>
            <a:off x="5102352" y="1737360"/>
            <a:ext cx="0" cy="3977640"/>
          </a:xfrm>
          <a:prstGeom prst="line">
            <a:avLst/>
          </a:prstGeom>
          <a:ln w="19050">
            <a:solidFill>
              <a:srgbClr val="075E46"/>
            </a:solidFill>
          </a:ln>
        </p:spPr>
      </p:cxnSp>
      <p:cxnSp>
        <p:nvCxnSpPr>
          <p:cNvPr id="11" name="!!PathAdmin"/>
          <p:cNvCxnSpPr/>
          <p:nvPr/>
        </p:nvCxnSpPr>
        <p:spPr>
          <a:xfrm>
            <a:off x="8668512" y="1737360"/>
            <a:ext cx="0" cy="3977640"/>
          </a:xfrm>
          <a:prstGeom prst="line">
            <a:avLst/>
          </a:prstGeom>
          <a:ln w="19050">
            <a:solidFill>
              <a:srgbClr val="1D1D1F"/>
            </a:solidFill>
          </a:ln>
        </p:spPr>
      </p:cxnSp>
      <p:sp>
        <p:nvSpPr>
          <p:cNvPr id="12" name="Nœud plan 1"/>
          <p:cNvSpPr/>
          <p:nvPr/>
        </p:nvSpPr>
        <p:spPr>
          <a:xfrm>
            <a:off x="5020056" y="1746504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075E4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uméro plan 1"/>
          <p:cNvSpPr txBox="1"/>
          <p:nvPr/>
        </p:nvSpPr>
        <p:spPr>
          <a:xfrm>
            <a:off x="5422392" y="16916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lang="fr-FR" spc="60">
                <a:solidFill>
                  <a:srgbClr val="075E46"/>
                </a:solidFill>
                <a:latin typeface="JetBrains Mono"/>
              </a:rPr>
              <a:t>01</a:t>
            </a:r>
          </a:p>
        </p:txBody>
      </p:sp>
      <p:sp>
        <p:nvSpPr>
          <p:cNvPr id="14" name="Titre plan 1"/>
          <p:cNvSpPr txBox="1"/>
          <p:nvPr/>
        </p:nvSpPr>
        <p:spPr>
          <a:xfrm>
            <a:off x="5422392" y="1984248"/>
            <a:ext cx="283464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200" b="1" lang="fr-FR">
                <a:solidFill>
                  <a:srgbClr val="1D1D1F"/>
                </a:solidFill>
                <a:latin typeface="Instrument Sans"/>
              </a:rPr>
              <a:t>Introduction</a:t>
            </a:r>
          </a:p>
        </p:txBody>
      </p:sp>
      <p:sp>
        <p:nvSpPr>
          <p:cNvPr id="15" name="Nœud plan 2"/>
          <p:cNvSpPr/>
          <p:nvPr/>
        </p:nvSpPr>
        <p:spPr>
          <a:xfrm>
            <a:off x="5020056" y="2843784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075E4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uméro plan 2"/>
          <p:cNvSpPr txBox="1"/>
          <p:nvPr/>
        </p:nvSpPr>
        <p:spPr>
          <a:xfrm>
            <a:off x="5422392" y="27889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lang="fr-FR" spc="60">
                <a:solidFill>
                  <a:srgbClr val="075E46"/>
                </a:solidFill>
                <a:latin typeface="JetBrains Mono"/>
              </a:rPr>
              <a:t>02</a:t>
            </a:r>
          </a:p>
        </p:txBody>
      </p:sp>
      <p:sp>
        <p:nvSpPr>
          <p:cNvPr id="17" name="Titre plan 2"/>
          <p:cNvSpPr txBox="1"/>
          <p:nvPr/>
        </p:nvSpPr>
        <p:spPr>
          <a:xfrm>
            <a:off x="5422392" y="3081528"/>
            <a:ext cx="283464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200" b="1" lang="fr-FR">
                <a:solidFill>
                  <a:srgbClr val="1D1D1F"/>
                </a:solidFill>
                <a:latin typeface="Instrument Sans"/>
              </a:rPr>
              <a:t>Problématique</a:t>
            </a:r>
          </a:p>
        </p:txBody>
      </p:sp>
      <p:sp>
        <p:nvSpPr>
          <p:cNvPr id="18" name="Nœud plan 3"/>
          <p:cNvSpPr/>
          <p:nvPr/>
        </p:nvSpPr>
        <p:spPr>
          <a:xfrm>
            <a:off x="5020056" y="3941064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075E4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uméro plan 3"/>
          <p:cNvSpPr txBox="1"/>
          <p:nvPr/>
        </p:nvSpPr>
        <p:spPr>
          <a:xfrm>
            <a:off x="5422392" y="38862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lang="fr-FR" spc="60">
                <a:solidFill>
                  <a:srgbClr val="075E46"/>
                </a:solidFill>
                <a:latin typeface="JetBrains Mono"/>
              </a:rPr>
              <a:t>03</a:t>
            </a:r>
          </a:p>
        </p:txBody>
      </p:sp>
      <p:sp>
        <p:nvSpPr>
          <p:cNvPr id="20" name="Titre plan 3"/>
          <p:cNvSpPr txBox="1"/>
          <p:nvPr/>
        </p:nvSpPr>
        <p:spPr>
          <a:xfrm>
            <a:off x="5422392" y="4178808"/>
            <a:ext cx="283464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200" b="1" lang="fr-FR">
                <a:solidFill>
                  <a:srgbClr val="1D1D1F"/>
                </a:solidFill>
                <a:latin typeface="Instrument Sans"/>
              </a:rPr>
              <a:t>Solution</a:t>
            </a:r>
          </a:p>
        </p:txBody>
      </p:sp>
      <p:sp>
        <p:nvSpPr>
          <p:cNvPr id="21" name="Nœud plan 4"/>
          <p:cNvSpPr/>
          <p:nvPr/>
        </p:nvSpPr>
        <p:spPr>
          <a:xfrm>
            <a:off x="5020056" y="5038344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075E4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!!AgendaIndex"/>
          <p:cNvSpPr txBox="1"/>
          <p:nvPr/>
        </p:nvSpPr>
        <p:spPr>
          <a:xfrm>
            <a:off x="5422392" y="49834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lang="fr-FR" spc="60">
                <a:solidFill>
                  <a:srgbClr val="075E46"/>
                </a:solidFill>
                <a:latin typeface="JetBrains Mono"/>
              </a:rPr>
              <a:t>04</a:t>
            </a:r>
          </a:p>
        </p:txBody>
      </p:sp>
      <p:sp>
        <p:nvSpPr>
          <p:cNvPr id="23" name="Titre plan 4"/>
          <p:cNvSpPr txBox="1"/>
          <p:nvPr/>
        </p:nvSpPr>
        <p:spPr>
          <a:xfrm>
            <a:off x="5422392" y="5276088"/>
            <a:ext cx="283464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200" b="1" lang="fr-FR">
                <a:solidFill>
                  <a:srgbClr val="1D1D1F"/>
                </a:solidFill>
                <a:latin typeface="Instrument Sans"/>
              </a:rPr>
              <a:t>Spécification des besoins</a:t>
            </a:r>
          </a:p>
        </p:txBody>
      </p:sp>
      <p:sp>
        <p:nvSpPr>
          <p:cNvPr id="24" name="Nœud plan 5"/>
          <p:cNvSpPr/>
          <p:nvPr/>
        </p:nvSpPr>
        <p:spPr>
          <a:xfrm>
            <a:off x="8586216" y="1746504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uméro plan 5"/>
          <p:cNvSpPr txBox="1"/>
          <p:nvPr/>
        </p:nvSpPr>
        <p:spPr>
          <a:xfrm>
            <a:off x="8988552" y="16916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lang="fr-FR" spc="60">
                <a:solidFill>
                  <a:srgbClr val="1D1D1F"/>
                </a:solidFill>
                <a:latin typeface="JetBrains Mono"/>
              </a:rPr>
              <a:t>05</a:t>
            </a:r>
          </a:p>
        </p:txBody>
      </p:sp>
      <p:sp>
        <p:nvSpPr>
          <p:cNvPr id="26" name="Titre plan 5"/>
          <p:cNvSpPr txBox="1"/>
          <p:nvPr/>
        </p:nvSpPr>
        <p:spPr>
          <a:xfrm>
            <a:off x="8988552" y="1984248"/>
            <a:ext cx="278892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200" b="1" lang="fr-FR">
                <a:solidFill>
                  <a:srgbClr val="1D1D1F"/>
                </a:solidFill>
                <a:latin typeface="Instrument Sans"/>
              </a:rPr>
              <a:t>Modélisation et réalisation</a:t>
            </a:r>
          </a:p>
        </p:txBody>
      </p:sp>
      <p:sp>
        <p:nvSpPr>
          <p:cNvPr id="27" name="Nœud plan 6"/>
          <p:cNvSpPr/>
          <p:nvPr/>
        </p:nvSpPr>
        <p:spPr>
          <a:xfrm>
            <a:off x="8586216" y="2843784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Numéro plan 6"/>
          <p:cNvSpPr txBox="1"/>
          <p:nvPr/>
        </p:nvSpPr>
        <p:spPr>
          <a:xfrm>
            <a:off x="8988552" y="27889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lang="fr-FR" spc="60">
                <a:solidFill>
                  <a:srgbClr val="1D1D1F"/>
                </a:solidFill>
                <a:latin typeface="JetBrains Mono"/>
              </a:rPr>
              <a:t>06</a:t>
            </a:r>
          </a:p>
        </p:txBody>
      </p:sp>
      <p:sp>
        <p:nvSpPr>
          <p:cNvPr id="29" name="Titre plan 6"/>
          <p:cNvSpPr txBox="1"/>
          <p:nvPr/>
        </p:nvSpPr>
        <p:spPr>
          <a:xfrm>
            <a:off x="8988552" y="3081528"/>
            <a:ext cx="278892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200" b="1" lang="fr-FR">
                <a:solidFill>
                  <a:srgbClr val="1D1D1F"/>
                </a:solidFill>
                <a:latin typeface="Instrument Sans"/>
              </a:rPr>
              <a:t>Conception</a:t>
            </a:r>
          </a:p>
        </p:txBody>
      </p:sp>
      <p:sp>
        <p:nvSpPr>
          <p:cNvPr id="30" name="Nœud plan 7"/>
          <p:cNvSpPr/>
          <p:nvPr/>
        </p:nvSpPr>
        <p:spPr>
          <a:xfrm>
            <a:off x="8586216" y="3941064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Numéro plan 7"/>
          <p:cNvSpPr txBox="1"/>
          <p:nvPr/>
        </p:nvSpPr>
        <p:spPr>
          <a:xfrm>
            <a:off x="8988552" y="38862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lang="fr-FR" spc="60">
                <a:solidFill>
                  <a:srgbClr val="1D1D1F"/>
                </a:solidFill>
                <a:latin typeface="JetBrains Mono"/>
              </a:rPr>
              <a:t>07</a:t>
            </a:r>
          </a:p>
        </p:txBody>
      </p:sp>
      <p:sp>
        <p:nvSpPr>
          <p:cNvPr id="32" name="Titre plan 7"/>
          <p:cNvSpPr txBox="1"/>
          <p:nvPr/>
        </p:nvSpPr>
        <p:spPr>
          <a:xfrm>
            <a:off x="8988552" y="4178808"/>
            <a:ext cx="278892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200" b="1" lang="fr-FR">
                <a:solidFill>
                  <a:srgbClr val="1D1D1F"/>
                </a:solidFill>
                <a:latin typeface="Instrument Sans"/>
              </a:rPr>
              <a:t>Démonstration des interfaces</a:t>
            </a:r>
          </a:p>
        </p:txBody>
      </p:sp>
      <p:sp>
        <p:nvSpPr>
          <p:cNvPr id="33" name="Nœud plan 8"/>
          <p:cNvSpPr/>
          <p:nvPr/>
        </p:nvSpPr>
        <p:spPr>
          <a:xfrm>
            <a:off x="8586216" y="5038344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Numéro plan 8"/>
          <p:cNvSpPr txBox="1"/>
          <p:nvPr/>
        </p:nvSpPr>
        <p:spPr>
          <a:xfrm>
            <a:off x="8988552" y="49834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lang="fr-FR" spc="60">
                <a:solidFill>
                  <a:srgbClr val="1D1D1F"/>
                </a:solidFill>
                <a:latin typeface="JetBrains Mono"/>
              </a:rPr>
              <a:t>08</a:t>
            </a:r>
          </a:p>
        </p:txBody>
      </p:sp>
      <p:sp>
        <p:nvSpPr>
          <p:cNvPr id="35" name="Titre plan 8"/>
          <p:cNvSpPr txBox="1"/>
          <p:nvPr/>
        </p:nvSpPr>
        <p:spPr>
          <a:xfrm>
            <a:off x="8988552" y="5276088"/>
            <a:ext cx="278892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200" b="1" lang="fr-FR">
                <a:solidFill>
                  <a:srgbClr val="1D1D1F"/>
                </a:solidFill>
                <a:latin typeface="Instrument Sans"/>
              </a:rPr>
              <a:t>Conclusion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rojectLabel"/>
          <p:cNvSpPr txBox="1"/>
          <p:nvPr/>
        </p:nvSpPr>
        <p:spPr>
          <a:xfrm>
            <a:off x="548640" y="31089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lang="fr-FR" spc="150">
                <a:solidFill>
                  <a:srgbClr val="1D1D1F"/>
                </a:solidFill>
                <a:latin typeface="Anton"/>
              </a:rPr>
              <a:t>CLÉOPÂTRE</a:t>
            </a:r>
          </a:p>
        </p:txBody>
      </p:sp>
      <p:sp>
        <p:nvSpPr>
          <p:cNvPr id="3" name="!!ChapterIndex"/>
          <p:cNvSpPr txBox="1"/>
          <p:nvPr/>
        </p:nvSpPr>
        <p:spPr>
          <a:xfrm>
            <a:off x="5239512" y="36576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06 / 20   ·   SPÉCIFICATION DES BESOINS</a:t>
            </a:r>
          </a:p>
        </p:txBody>
      </p:sp>
      <p:sp>
        <p:nvSpPr>
          <p:cNvPr id="4" name="!!AgendaIndex"/>
          <p:cNvSpPr txBox="1"/>
          <p:nvPr/>
        </p:nvSpPr>
        <p:spPr>
          <a:xfrm>
            <a:off x="548640" y="658368"/>
            <a:ext cx="128016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5400" b="0" lang="fr-FR">
                <a:solidFill>
                  <a:srgbClr val="075E46"/>
                </a:solidFill>
                <a:latin typeface="Anton"/>
              </a:rPr>
              <a:t>04</a:t>
            </a:r>
          </a:p>
        </p:txBody>
      </p:sp>
      <p:sp>
        <p:nvSpPr>
          <p:cNvPr id="5" name="!!MorphHeadline"/>
          <p:cNvSpPr txBox="1"/>
          <p:nvPr/>
        </p:nvSpPr>
        <p:spPr>
          <a:xfrm>
            <a:off x="1783080" y="804672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000" b="1" lang="fr-FR">
                <a:solidFill>
                  <a:srgbClr val="1D1D1F"/>
                </a:solidFill>
                <a:latin typeface="Instrument Sans"/>
              </a:rPr>
              <a:t>Spécification des besoins</a:t>
            </a:r>
          </a:p>
        </p:txBody>
      </p:sp>
      <p:sp>
        <p:nvSpPr>
          <p:cNvPr id="6" name="Sous-titre périmètre"/>
          <p:cNvSpPr txBox="1"/>
          <p:nvPr/>
        </p:nvSpPr>
        <p:spPr>
          <a:xfrm>
            <a:off x="1783080" y="137160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 lang="fr-FR">
                <a:solidFill>
                  <a:srgbClr val="6E6E73"/>
                </a:solidFill>
                <a:latin typeface="Instrument Sans"/>
              </a:rPr>
              <a:t>Périmètre : une vitrine et un espace d’administration séparé, reliés à la même base de données.</a:t>
            </a:r>
          </a:p>
        </p:txBody>
      </p:sp>
      <p:cxnSp>
        <p:nvCxnSpPr>
          <p:cNvPr id="7" name="!!NarrativePath"/>
          <p:cNvCxnSpPr/>
          <p:nvPr/>
        </p:nvCxnSpPr>
        <p:spPr>
          <a:xfrm>
            <a:off x="3383280" y="2331720"/>
            <a:ext cx="5422392" cy="0"/>
          </a:xfrm>
          <a:prstGeom prst="line">
            <a:avLst/>
          </a:prstGeom>
          <a:ln w="19050">
            <a:solidFill>
              <a:srgbClr val="1D1D1F"/>
            </a:solidFill>
            <a:prstDash val="dash"/>
          </a:ln>
        </p:spPr>
      </p:cxnSp>
      <p:cxnSp>
        <p:nvCxnSpPr>
          <p:cNvPr id="8" name="Frontière gauche"/>
          <p:cNvCxnSpPr/>
          <p:nvPr/>
        </p:nvCxnSpPr>
        <p:spPr>
          <a:xfrm>
            <a:off x="3383280" y="2331720"/>
            <a:ext cx="0" cy="3931920"/>
          </a:xfrm>
          <a:prstGeom prst="line">
            <a:avLst/>
          </a:prstGeom>
          <a:ln w="19050">
            <a:solidFill>
              <a:srgbClr val="1D1D1F"/>
            </a:solidFill>
            <a:prstDash val="dash"/>
          </a:ln>
        </p:spPr>
      </p:cxnSp>
      <p:cxnSp>
        <p:nvCxnSpPr>
          <p:cNvPr id="9" name="Frontière droite"/>
          <p:cNvCxnSpPr/>
          <p:nvPr/>
        </p:nvCxnSpPr>
        <p:spPr>
          <a:xfrm>
            <a:off x="8805672" y="2331720"/>
            <a:ext cx="0" cy="3931920"/>
          </a:xfrm>
          <a:prstGeom prst="line">
            <a:avLst/>
          </a:prstGeom>
          <a:ln w="19050">
            <a:solidFill>
              <a:srgbClr val="1D1D1F"/>
            </a:solidFill>
            <a:prstDash val="dash"/>
          </a:ln>
        </p:spPr>
      </p:cxnSp>
      <p:cxnSp>
        <p:nvCxnSpPr>
          <p:cNvPr id="10" name="Frontière basse"/>
          <p:cNvCxnSpPr/>
          <p:nvPr/>
        </p:nvCxnSpPr>
        <p:spPr>
          <a:xfrm>
            <a:off x="3383280" y="6263640"/>
            <a:ext cx="5422392" cy="0"/>
          </a:xfrm>
          <a:prstGeom prst="line">
            <a:avLst/>
          </a:prstGeom>
          <a:ln w="19050">
            <a:solidFill>
              <a:srgbClr val="1D1D1F"/>
            </a:solidFill>
            <a:prstDash val="dash"/>
          </a:ln>
        </p:spPr>
      </p:cxnSp>
      <p:sp>
        <p:nvSpPr>
          <p:cNvPr id="11" name="!!CleoSignal"/>
          <p:cNvSpPr/>
          <p:nvPr/>
        </p:nvSpPr>
        <p:spPr>
          <a:xfrm>
            <a:off x="3291840" y="2240280"/>
            <a:ext cx="182880" cy="182880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Étiquette frontière"/>
          <p:cNvSpPr txBox="1"/>
          <p:nvPr/>
        </p:nvSpPr>
        <p:spPr>
          <a:xfrm>
            <a:off x="3611880" y="251460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PLATEFORME CLÉOPÂTRE</a:t>
            </a:r>
          </a:p>
        </p:txBody>
      </p:sp>
      <p:cxnSp>
        <p:nvCxnSpPr>
          <p:cNvPr id="13" name="Séparateur zones"/>
          <p:cNvCxnSpPr/>
          <p:nvPr/>
        </p:nvCxnSpPr>
        <p:spPr>
          <a:xfrm>
            <a:off x="6094476" y="3063240"/>
            <a:ext cx="0" cy="2926080"/>
          </a:xfrm>
          <a:prstGeom prst="line">
            <a:avLst/>
          </a:prstGeom>
          <a:ln w="9525">
            <a:solidFill>
              <a:srgbClr val="AAAAAA"/>
            </a:solidFill>
          </a:ln>
        </p:spPr>
      </p:cxnSp>
      <p:sp>
        <p:nvSpPr>
          <p:cNvPr id="14" name="Zone Vitrine"/>
          <p:cNvSpPr txBox="1"/>
          <p:nvPr/>
        </p:nvSpPr>
        <p:spPr>
          <a:xfrm>
            <a:off x="3730752" y="3063240"/>
            <a:ext cx="2331720" cy="2834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200"/>
              </a:spcAft>
            </a:pPr>
            <a:r>
              <a:rPr sz="2200" b="1" lang="fr-FR">
                <a:solidFill>
                  <a:srgbClr val="1D1D1F"/>
                </a:solidFill>
                <a:latin typeface="Instrument Sans"/>
              </a:rPr>
              <a:t>Vitrine</a:t>
            </a:r>
          </a:p>
          <a:p>
            <a:pPr algn="l">
              <a:spcAft>
                <a:spcPts val="1000"/>
              </a:spcAft>
            </a:pPr>
            <a:r>
              <a:rPr sz="1600" b="0" lang="fr-FR">
                <a:solidFill>
                  <a:srgbClr val="1D1D1F"/>
                </a:solidFill>
                <a:latin typeface="Instrument Sans"/>
              </a:rPr>
              <a:t>Catalogue et recherche</a:t>
            </a:r>
          </a:p>
          <a:p>
            <a:pPr algn="l">
              <a:spcAft>
                <a:spcPts val="1000"/>
              </a:spcAft>
            </a:pPr>
            <a:r>
              <a:rPr sz="1600" b="0" lang="fr-FR">
                <a:solidFill>
                  <a:srgbClr val="1D1D1F"/>
                </a:solidFill>
                <a:latin typeface="Instrument Sans"/>
              </a:rPr>
              <a:t>Panier et commande</a:t>
            </a:r>
          </a:p>
          <a:p>
            <a:pPr algn="l">
              <a:spcAft>
                <a:spcPts val="1000"/>
              </a:spcAft>
            </a:pPr>
            <a:r>
              <a:rPr sz="1600" b="0" lang="fr-FR">
                <a:solidFill>
                  <a:srgbClr val="1D1D1F"/>
                </a:solidFill>
                <a:latin typeface="Instrument Sans"/>
              </a:rPr>
              <a:t>Compte et suivi</a:t>
            </a:r>
          </a:p>
        </p:txBody>
      </p:sp>
      <p:sp>
        <p:nvSpPr>
          <p:cNvPr id="15" name="Zone Administration"/>
          <p:cNvSpPr txBox="1"/>
          <p:nvPr/>
        </p:nvSpPr>
        <p:spPr>
          <a:xfrm>
            <a:off x="6355080" y="3063240"/>
            <a:ext cx="2331720" cy="2834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200"/>
              </a:spcAft>
            </a:pPr>
            <a:r>
              <a:rPr sz="2200" b="1" lang="fr-FR">
                <a:solidFill>
                  <a:srgbClr val="1D1D1F"/>
                </a:solidFill>
                <a:latin typeface="Instrument Sans"/>
              </a:rPr>
              <a:t>Administration</a:t>
            </a:r>
          </a:p>
          <a:p>
            <a:pPr algn="l">
              <a:spcAft>
                <a:spcPts val="1000"/>
              </a:spcAft>
            </a:pPr>
            <a:r>
              <a:rPr sz="1600" b="0" lang="fr-FR">
                <a:solidFill>
                  <a:srgbClr val="1D1D1F"/>
                </a:solidFill>
                <a:latin typeface="Instrument Sans"/>
              </a:rPr>
              <a:t>Catalogue et stocks</a:t>
            </a:r>
          </a:p>
          <a:p>
            <a:pPr algn="l">
              <a:spcAft>
                <a:spcPts val="1000"/>
              </a:spcAft>
            </a:pPr>
            <a:r>
              <a:rPr sz="1600" b="0" lang="fr-FR">
                <a:solidFill>
                  <a:srgbClr val="1D1D1F"/>
                </a:solidFill>
                <a:latin typeface="Instrument Sans"/>
              </a:rPr>
              <a:t>Commandes et retours</a:t>
            </a:r>
          </a:p>
          <a:p>
            <a:pPr algn="l">
              <a:spcAft>
                <a:spcPts val="1000"/>
              </a:spcAft>
            </a:pPr>
            <a:r>
              <a:rPr sz="1600" b="0" lang="fr-FR">
                <a:solidFill>
                  <a:srgbClr val="1D1D1F"/>
                </a:solidFill>
                <a:latin typeface="Instrument Sans"/>
              </a:rPr>
              <a:t>Support et e-mails</a:t>
            </a:r>
          </a:p>
        </p:txBody>
      </p:sp>
      <p:sp>
        <p:nvSpPr>
          <p:cNvPr id="16" name="!!RoleChip"/>
          <p:cNvSpPr/>
          <p:nvPr/>
        </p:nvSpPr>
        <p:spPr>
          <a:xfrm>
            <a:off x="548640" y="3063240"/>
            <a:ext cx="2103120" cy="1325880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 wrap="square" lIns="182880" tIns="182880" rIns="182880" bIns="182880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0" lang="fr-FR" spc="60">
                <a:solidFill>
                  <a:srgbClr val="FFFFFF"/>
                </a:solidFill>
                <a:latin typeface="JetBrains Mono"/>
              </a:rPr>
              <a:t>ACTEUR</a:t>
            </a:r>
          </a:p>
          <a:p>
            <a:pPr algn="l">
              <a:spcAft>
                <a:spcPts val="0"/>
              </a:spcAft>
            </a:pPr>
            <a:r>
              <a:rPr sz="2600" b="1" lang="fr-FR">
                <a:solidFill>
                  <a:srgbClr val="FFFFFF"/>
                </a:solidFill>
                <a:latin typeface="Instrument Sans"/>
              </a:rPr>
              <a:t>Client</a:t>
            </a:r>
          </a:p>
        </p:txBody>
      </p:sp>
      <p:sp>
        <p:nvSpPr>
          <p:cNvPr id="17" name="Rôle client"/>
          <p:cNvSpPr txBox="1"/>
          <p:nvPr/>
        </p:nvSpPr>
        <p:spPr>
          <a:xfrm>
            <a:off x="548640" y="4572000"/>
            <a:ext cx="210312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lang="fr-FR">
                <a:solidFill>
                  <a:srgbClr val="6E6E73"/>
                </a:solidFill>
                <a:latin typeface="Instrument Sans"/>
              </a:rPr>
              <a:t>Découvre le catalogue, commande et suit ses demandes.</a:t>
            </a:r>
          </a:p>
        </p:txBody>
      </p:sp>
      <p:sp>
        <p:nvSpPr>
          <p:cNvPr id="18" name="!!ActorTeam"/>
          <p:cNvSpPr/>
          <p:nvPr/>
        </p:nvSpPr>
        <p:spPr>
          <a:xfrm>
            <a:off x="9537192" y="3063240"/>
            <a:ext cx="2103120" cy="132588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txBody>
          <a:bodyPr rtlCol="0" anchor="ctr" wrap="square" lIns="182880" tIns="182880" rIns="182880" bIns="182880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0" lang="fr-FR" spc="60">
                <a:solidFill>
                  <a:srgbClr val="AAAAAA"/>
                </a:solidFill>
                <a:latin typeface="JetBrains Mono"/>
              </a:rPr>
              <a:t>ACTEUR</a:t>
            </a:r>
          </a:p>
          <a:p>
            <a:pPr algn="l">
              <a:spcAft>
                <a:spcPts val="0"/>
              </a:spcAft>
            </a:pPr>
            <a:r>
              <a:rPr sz="2600" b="1" lang="fr-FR">
                <a:solidFill>
                  <a:srgbClr val="FFFFFF"/>
                </a:solidFill>
                <a:latin typeface="Instrument Sans"/>
              </a:rPr>
              <a:t>Équipe</a:t>
            </a:r>
          </a:p>
        </p:txBody>
      </p:sp>
      <p:sp>
        <p:nvSpPr>
          <p:cNvPr id="19" name="Rôle équipe"/>
          <p:cNvSpPr txBox="1"/>
          <p:nvPr/>
        </p:nvSpPr>
        <p:spPr>
          <a:xfrm>
            <a:off x="9537192" y="4572000"/>
            <a:ext cx="210312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lang="fr-FR">
                <a:solidFill>
                  <a:srgbClr val="6E6E73"/>
                </a:solidFill>
                <a:latin typeface="Instrument Sans"/>
              </a:rPr>
              <a:t>Gère le catalogue, les commandes et la relation client.</a:t>
            </a:r>
          </a:p>
        </p:txBody>
      </p:sp>
      <p:cxnSp>
        <p:nvCxnSpPr>
          <p:cNvPr id="20" name="!!PathClient"/>
          <p:cNvCxnSpPr/>
          <p:nvPr/>
        </p:nvCxnSpPr>
        <p:spPr>
          <a:xfrm>
            <a:off x="2651760" y="3726180"/>
            <a:ext cx="932688" cy="0"/>
          </a:xfrm>
          <a:prstGeom prst="line">
            <a:avLst/>
          </a:prstGeom>
          <a:ln w="19050">
            <a:solidFill>
              <a:srgbClr val="075E46"/>
            </a:solidFill>
            <a:tailEnd type="triangle" w="med" len="med"/>
          </a:ln>
        </p:spPr>
      </p:cxnSp>
      <p:cxnSp>
        <p:nvCxnSpPr>
          <p:cNvPr id="21" name="!!PathAdmin"/>
          <p:cNvCxnSpPr/>
          <p:nvPr/>
        </p:nvCxnSpPr>
        <p:spPr>
          <a:xfrm flipH="1">
            <a:off x="8641080" y="3726180"/>
            <a:ext cx="896112" cy="0"/>
          </a:xfrm>
          <a:prstGeom prst="line">
            <a:avLst/>
          </a:prstGeom>
          <a:ln w="19050">
            <a:solidFill>
              <a:srgbClr val="1D1D1F"/>
            </a:solidFill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rojectLabel"/>
          <p:cNvSpPr txBox="1"/>
          <p:nvPr/>
        </p:nvSpPr>
        <p:spPr>
          <a:xfrm>
            <a:off x="548640" y="31089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lang="fr-FR" spc="150">
                <a:solidFill>
                  <a:srgbClr val="1D1D1F"/>
                </a:solidFill>
                <a:latin typeface="Anton"/>
              </a:rPr>
              <a:t>CLÉOPÂTRE</a:t>
            </a:r>
          </a:p>
        </p:txBody>
      </p:sp>
      <p:sp>
        <p:nvSpPr>
          <p:cNvPr id="3" name="!!ChapterIndex"/>
          <p:cNvSpPr txBox="1"/>
          <p:nvPr/>
        </p:nvSpPr>
        <p:spPr>
          <a:xfrm>
            <a:off x="5239512" y="36576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07 / 20   ·   BESOINS FONCTIONNELS · CLIENT</a:t>
            </a:r>
          </a:p>
        </p:txBody>
      </p:sp>
      <p:sp>
        <p:nvSpPr>
          <p:cNvPr id="4" name="!!RolePanel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MorphHeadline"/>
          <p:cNvSpPr txBox="1"/>
          <p:nvPr/>
        </p:nvSpPr>
        <p:spPr>
          <a:xfrm>
            <a:off x="548640" y="804672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000" b="1" lang="fr-FR">
                <a:solidFill>
                  <a:srgbClr val="1D1D1F"/>
                </a:solidFill>
                <a:latin typeface="Instrument Sans"/>
              </a:rPr>
              <a:t>Besoins fonctionnels : client</a:t>
            </a:r>
          </a:p>
        </p:txBody>
      </p:sp>
      <p:sp>
        <p:nvSpPr>
          <p:cNvPr id="6" name="Sous-titre client"/>
          <p:cNvSpPr txBox="1"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 lang="fr-FR">
                <a:solidFill>
                  <a:srgbClr val="6E6E73"/>
                </a:solidFill>
                <a:latin typeface="Instrument Sans"/>
              </a:rPr>
              <a:t>Le parcours client, tel qu’il est réellement implémenté dans la vitrine.</a:t>
            </a:r>
          </a:p>
        </p:txBody>
      </p:sp>
      <p:cxnSp>
        <p:nvCxnSpPr>
          <p:cNvPr id="7" name="!!NarrativePath"/>
          <p:cNvCxnSpPr/>
          <p:nvPr/>
        </p:nvCxnSpPr>
        <p:spPr>
          <a:xfrm>
            <a:off x="1828800" y="3154680"/>
            <a:ext cx="9811512" cy="0"/>
          </a:xfrm>
          <a:prstGeom prst="line">
            <a:avLst/>
          </a:prstGeom>
          <a:ln w="19050">
            <a:solidFill>
              <a:srgbClr val="1D1D1F"/>
            </a:solidFill>
            <a:tailEnd type="triangle" w="med" len="med"/>
          </a:ln>
        </p:spPr>
      </p:cxnSp>
      <p:sp>
        <p:nvSpPr>
          <p:cNvPr id="8" name="!!CleoSignal"/>
          <p:cNvSpPr/>
          <p:nvPr/>
        </p:nvSpPr>
        <p:spPr>
          <a:xfrm>
            <a:off x="1828800" y="3113532"/>
            <a:ext cx="2221992" cy="82296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!!RoleChip"/>
          <p:cNvSpPr/>
          <p:nvPr/>
        </p:nvSpPr>
        <p:spPr>
          <a:xfrm>
            <a:off x="548640" y="2898648"/>
            <a:ext cx="1280160" cy="512064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 wrap="square" lIns="45720" tIns="45720" rIns="45720" bIns="4572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 lang="fr-FR" spc="80">
                <a:solidFill>
                  <a:srgbClr val="FFFFFF"/>
                </a:solidFill>
                <a:latin typeface="JetBrains Mono"/>
              </a:rPr>
              <a:t>CLIENT</a:t>
            </a:r>
          </a:p>
        </p:txBody>
      </p:sp>
      <p:sp>
        <p:nvSpPr>
          <p:cNvPr id="10" name="!!Node1"/>
          <p:cNvSpPr/>
          <p:nvPr/>
        </p:nvSpPr>
        <p:spPr>
          <a:xfrm>
            <a:off x="2148840" y="3054096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uméro client 1"/>
          <p:cNvSpPr txBox="1"/>
          <p:nvPr/>
        </p:nvSpPr>
        <p:spPr>
          <a:xfrm>
            <a:off x="2148840" y="214884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lang="fr-FR" spc="60">
                <a:solidFill>
                  <a:srgbClr val="075E46"/>
                </a:solidFill>
                <a:latin typeface="JetBrains Mono"/>
              </a:rPr>
              <a:t>01</a:t>
            </a:r>
          </a:p>
        </p:txBody>
      </p:sp>
      <p:sp>
        <p:nvSpPr>
          <p:cNvPr id="12" name="Étape client 1"/>
          <p:cNvSpPr txBox="1"/>
          <p:nvPr/>
        </p:nvSpPr>
        <p:spPr>
          <a:xfrm>
            <a:off x="2148840" y="2468880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lang="fr-FR">
                <a:solidFill>
                  <a:srgbClr val="1D1D1F"/>
                </a:solidFill>
                <a:latin typeface="Instrument Sans"/>
              </a:rPr>
              <a:t>Découvrir</a:t>
            </a:r>
          </a:p>
        </p:txBody>
      </p:sp>
      <p:sp>
        <p:nvSpPr>
          <p:cNvPr id="13" name="Détail client 1"/>
          <p:cNvSpPr txBox="1"/>
          <p:nvPr/>
        </p:nvSpPr>
        <p:spPr>
          <a:xfrm>
            <a:off x="2148840" y="3520440"/>
            <a:ext cx="1737360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lang="fr-FR">
                <a:solidFill>
                  <a:srgbClr val="1D1D1F"/>
                </a:solidFill>
                <a:latin typeface="Instrument Sans"/>
              </a:rPr>
              <a:t>Univers, catégories, marques et produits</a:t>
            </a:r>
          </a:p>
        </p:txBody>
      </p:sp>
      <p:sp>
        <p:nvSpPr>
          <p:cNvPr id="14" name="!!Node2"/>
          <p:cNvSpPr/>
          <p:nvPr/>
        </p:nvSpPr>
        <p:spPr>
          <a:xfrm>
            <a:off x="4050792" y="3054096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uméro client 2"/>
          <p:cNvSpPr txBox="1"/>
          <p:nvPr/>
        </p:nvSpPr>
        <p:spPr>
          <a:xfrm>
            <a:off x="4050792" y="214884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lang="fr-FR" spc="60">
                <a:solidFill>
                  <a:srgbClr val="075E46"/>
                </a:solidFill>
                <a:latin typeface="JetBrains Mono"/>
              </a:rPr>
              <a:t>02</a:t>
            </a:r>
          </a:p>
        </p:txBody>
      </p:sp>
      <p:sp>
        <p:nvSpPr>
          <p:cNvPr id="16" name="Étape client 2"/>
          <p:cNvSpPr txBox="1"/>
          <p:nvPr/>
        </p:nvSpPr>
        <p:spPr>
          <a:xfrm>
            <a:off x="4050792" y="2468880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lang="fr-FR">
                <a:solidFill>
                  <a:srgbClr val="1D1D1F"/>
                </a:solidFill>
                <a:latin typeface="Instrument Sans"/>
              </a:rPr>
              <a:t>Choisir</a:t>
            </a:r>
          </a:p>
        </p:txBody>
      </p:sp>
      <p:sp>
        <p:nvSpPr>
          <p:cNvPr id="17" name="Détail client 2"/>
          <p:cNvSpPr txBox="1"/>
          <p:nvPr/>
        </p:nvSpPr>
        <p:spPr>
          <a:xfrm>
            <a:off x="4050792" y="3520440"/>
            <a:ext cx="1737360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lang="fr-FR">
                <a:solidFill>
                  <a:srgbClr val="1D1D1F"/>
                </a:solidFill>
                <a:latin typeface="Instrument Sans"/>
              </a:rPr>
              <a:t>Recherche, filtres et fiche produit</a:t>
            </a:r>
          </a:p>
        </p:txBody>
      </p:sp>
      <p:sp>
        <p:nvSpPr>
          <p:cNvPr id="18" name="!!Node3"/>
          <p:cNvSpPr/>
          <p:nvPr/>
        </p:nvSpPr>
        <p:spPr>
          <a:xfrm>
            <a:off x="5952744" y="3054096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uméro client 3"/>
          <p:cNvSpPr txBox="1"/>
          <p:nvPr/>
        </p:nvSpPr>
        <p:spPr>
          <a:xfrm>
            <a:off x="5952744" y="214884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lang="fr-FR" spc="60">
                <a:solidFill>
                  <a:srgbClr val="075E46"/>
                </a:solidFill>
                <a:latin typeface="JetBrains Mono"/>
              </a:rPr>
              <a:t>03</a:t>
            </a:r>
          </a:p>
        </p:txBody>
      </p:sp>
      <p:sp>
        <p:nvSpPr>
          <p:cNvPr id="20" name="Étape client 3"/>
          <p:cNvSpPr txBox="1"/>
          <p:nvPr/>
        </p:nvSpPr>
        <p:spPr>
          <a:xfrm>
            <a:off x="5952744" y="2468880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lang="fr-FR">
                <a:solidFill>
                  <a:srgbClr val="1D1D1F"/>
                </a:solidFill>
                <a:latin typeface="Instrument Sans"/>
              </a:rPr>
              <a:t>Commander</a:t>
            </a:r>
          </a:p>
        </p:txBody>
      </p:sp>
      <p:sp>
        <p:nvSpPr>
          <p:cNvPr id="21" name="Détail client 3"/>
          <p:cNvSpPr txBox="1"/>
          <p:nvPr/>
        </p:nvSpPr>
        <p:spPr>
          <a:xfrm>
            <a:off x="5952744" y="3520440"/>
            <a:ext cx="1737360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lang="fr-FR">
                <a:solidFill>
                  <a:srgbClr val="1D1D1F"/>
                </a:solidFill>
                <a:latin typeface="Instrument Sans"/>
              </a:rPr>
              <a:t>Panier, commande et paiement</a:t>
            </a:r>
          </a:p>
        </p:txBody>
      </p:sp>
      <p:sp>
        <p:nvSpPr>
          <p:cNvPr id="22" name="!!Node4"/>
          <p:cNvSpPr/>
          <p:nvPr/>
        </p:nvSpPr>
        <p:spPr>
          <a:xfrm>
            <a:off x="7854696" y="3054096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uméro client 4"/>
          <p:cNvSpPr txBox="1"/>
          <p:nvPr/>
        </p:nvSpPr>
        <p:spPr>
          <a:xfrm>
            <a:off x="7854696" y="214884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lang="fr-FR" spc="60">
                <a:solidFill>
                  <a:srgbClr val="075E46"/>
                </a:solidFill>
                <a:latin typeface="JetBrains Mono"/>
              </a:rPr>
              <a:t>04</a:t>
            </a:r>
          </a:p>
        </p:txBody>
      </p:sp>
      <p:sp>
        <p:nvSpPr>
          <p:cNvPr id="24" name="Étape client 4"/>
          <p:cNvSpPr txBox="1"/>
          <p:nvPr/>
        </p:nvSpPr>
        <p:spPr>
          <a:xfrm>
            <a:off x="7854696" y="2468880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lang="fr-FR">
                <a:solidFill>
                  <a:srgbClr val="1D1D1F"/>
                </a:solidFill>
                <a:latin typeface="Instrument Sans"/>
              </a:rPr>
              <a:t>Suivre</a:t>
            </a:r>
          </a:p>
        </p:txBody>
      </p:sp>
      <p:sp>
        <p:nvSpPr>
          <p:cNvPr id="25" name="Détail client 4"/>
          <p:cNvSpPr txBox="1"/>
          <p:nvPr/>
        </p:nvSpPr>
        <p:spPr>
          <a:xfrm>
            <a:off x="7854696" y="3520440"/>
            <a:ext cx="1737360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lang="fr-FR">
                <a:solidFill>
                  <a:srgbClr val="1D1D1F"/>
                </a:solidFill>
                <a:latin typeface="Instrument Sans"/>
              </a:rPr>
              <a:t>Compte, favoris, avis, notifications, suivi de commande et retours</a:t>
            </a:r>
          </a:p>
        </p:txBody>
      </p:sp>
      <p:sp>
        <p:nvSpPr>
          <p:cNvPr id="26" name="!!Node5"/>
          <p:cNvSpPr/>
          <p:nvPr/>
        </p:nvSpPr>
        <p:spPr>
          <a:xfrm>
            <a:off x="9756648" y="3054096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Numéro client 5"/>
          <p:cNvSpPr txBox="1"/>
          <p:nvPr/>
        </p:nvSpPr>
        <p:spPr>
          <a:xfrm>
            <a:off x="9756648" y="214884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lang="fr-FR" spc="60">
                <a:solidFill>
                  <a:srgbClr val="075E46"/>
                </a:solidFill>
                <a:latin typeface="JetBrains Mono"/>
              </a:rPr>
              <a:t>05</a:t>
            </a:r>
          </a:p>
        </p:txBody>
      </p:sp>
      <p:sp>
        <p:nvSpPr>
          <p:cNvPr id="28" name="Étape client 5"/>
          <p:cNvSpPr txBox="1"/>
          <p:nvPr/>
        </p:nvSpPr>
        <p:spPr>
          <a:xfrm>
            <a:off x="9756648" y="2468880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lang="fr-FR">
                <a:solidFill>
                  <a:srgbClr val="1D1D1F"/>
                </a:solidFill>
                <a:latin typeface="Instrument Sans"/>
              </a:rPr>
              <a:t>Conseil</a:t>
            </a:r>
          </a:p>
        </p:txBody>
      </p:sp>
      <p:sp>
        <p:nvSpPr>
          <p:cNvPr id="29" name="Détail client 5"/>
          <p:cNvSpPr txBox="1"/>
          <p:nvPr/>
        </p:nvSpPr>
        <p:spPr>
          <a:xfrm>
            <a:off x="9756648" y="3520440"/>
            <a:ext cx="1737360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lang="fr-FR">
                <a:solidFill>
                  <a:srgbClr val="1D1D1F"/>
                </a:solidFill>
                <a:latin typeface="Instrument Sans"/>
              </a:rPr>
              <a:t>Contact du support et conseils du pharmacien</a:t>
            </a:r>
          </a:p>
        </p:txBody>
      </p:sp>
      <p:sp>
        <p:nvSpPr>
          <p:cNvPr id="30" name="Moyens de paiement"/>
          <p:cNvSpPr txBox="1"/>
          <p:nvPr/>
        </p:nvSpPr>
        <p:spPr>
          <a:xfrm>
            <a:off x="5952744" y="544068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 spc="30">
                <a:solidFill>
                  <a:srgbClr val="1D1D1F"/>
                </a:solidFill>
                <a:latin typeface="JetBrains Mono"/>
              </a:rPr>
              <a:t>PAIEMENT : À LA LIVRAISON · VIREMENT · CARTE CADEAU</a:t>
            </a:r>
          </a:p>
        </p:txBody>
      </p:sp>
      <p:sp>
        <p:nvSpPr>
          <p:cNvPr id="31" name="Note paiement"/>
          <p:cNvSpPr txBox="1"/>
          <p:nvPr/>
        </p:nvSpPr>
        <p:spPr>
          <a:xfrm>
            <a:off x="5952744" y="576072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 spc="30">
                <a:solidFill>
                  <a:srgbClr val="B25000"/>
                </a:solidFill>
                <a:latin typeface="JetBrains Mono"/>
              </a:rPr>
              <a:t>CARTE BANCAIRE : NON ACTIVÉE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ole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ProjectLabel"/>
          <p:cNvSpPr txBox="1"/>
          <p:nvPr/>
        </p:nvSpPr>
        <p:spPr>
          <a:xfrm>
            <a:off x="548640" y="31089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lang="fr-FR" spc="150">
                <a:solidFill>
                  <a:srgbClr val="FFFFFF"/>
                </a:solidFill>
                <a:latin typeface="Anton"/>
              </a:rPr>
              <a:t>CLÉOPÂTRE</a:t>
            </a:r>
          </a:p>
        </p:txBody>
      </p:sp>
      <p:sp>
        <p:nvSpPr>
          <p:cNvPr id="4" name="!!ChapterIndex"/>
          <p:cNvSpPr txBox="1"/>
          <p:nvPr/>
        </p:nvSpPr>
        <p:spPr>
          <a:xfrm>
            <a:off x="5239512" y="36576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08 / 20   ·   BESOINS FONCTIONNELS · ADMINISTRATION</a:t>
            </a:r>
          </a:p>
        </p:txBody>
      </p:sp>
      <p:sp>
        <p:nvSpPr>
          <p:cNvPr id="5" name="!!RoleChip"/>
          <p:cNvSpPr/>
          <p:nvPr/>
        </p:nvSpPr>
        <p:spPr>
          <a:xfrm>
            <a:off x="548640" y="914400"/>
            <a:ext cx="17373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45720" tIns="45720" rIns="45720" bIns="4572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 lang="fr-FR" spc="80">
                <a:solidFill>
                  <a:srgbClr val="1D1D1F"/>
                </a:solidFill>
                <a:latin typeface="JetBrains Mono"/>
              </a:rPr>
              <a:t>ÉQUIPE</a:t>
            </a:r>
          </a:p>
        </p:txBody>
      </p:sp>
      <p:sp>
        <p:nvSpPr>
          <p:cNvPr id="6" name="!!MorphHeadline"/>
          <p:cNvSpPr txBox="1"/>
          <p:nvPr/>
        </p:nvSpPr>
        <p:spPr>
          <a:xfrm>
            <a:off x="548640" y="1691640"/>
            <a:ext cx="3383280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000" b="1" lang="fr-FR">
                <a:solidFill>
                  <a:srgbClr val="FFFFFF"/>
                </a:solidFill>
                <a:latin typeface="Instrument Sans"/>
              </a:rPr>
              <a:t>Besoins fonctionnels : administration</a:t>
            </a:r>
          </a:p>
        </p:txBody>
      </p:sp>
      <p:cxnSp>
        <p:nvCxnSpPr>
          <p:cNvPr id="7" name="Filet panneau"/>
          <p:cNvCxnSpPr/>
          <p:nvPr/>
        </p:nvCxnSpPr>
        <p:spPr>
          <a:xfrm>
            <a:off x="548640" y="3977640"/>
            <a:ext cx="3200400" cy="0"/>
          </a:xfrm>
          <a:prstGeom prst="line">
            <a:avLst/>
          </a:prstGeom>
          <a:ln w="12700">
            <a:solidFill>
              <a:srgbClr val="2C2C2E"/>
            </a:solidFill>
          </a:ln>
        </p:spPr>
      </p:cxnSp>
      <p:sp>
        <p:nvSpPr>
          <p:cNvPr id="8" name="Texte rôles"/>
          <p:cNvSpPr txBox="1"/>
          <p:nvPr/>
        </p:nvSpPr>
        <p:spPr>
          <a:xfrm>
            <a:off x="548640" y="4206240"/>
            <a:ext cx="3291840" cy="160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0" lang="fr-FR" spc="60">
                <a:solidFill>
                  <a:srgbClr val="AAAAAA"/>
                </a:solidFill>
                <a:latin typeface="JetBrains Mono"/>
              </a:rPr>
              <a:t>ACCÈS PROTÉGÉ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lang="fr-FR">
                <a:solidFill>
                  <a:srgbClr val="FFFFFF"/>
                </a:solidFill>
                <a:latin typeface="Instrument Sans"/>
              </a:rPr>
              <a:t>Chaque action d’administration est protégée par un rôle, vérifié côté serveur.</a:t>
            </a:r>
          </a:p>
        </p:txBody>
      </p:sp>
      <p:sp>
        <p:nvSpPr>
          <p:cNvPr id="9" name="Rôles"/>
          <p:cNvSpPr txBox="1"/>
          <p:nvPr/>
        </p:nvSpPr>
        <p:spPr>
          <a:xfrm>
            <a:off x="548640" y="598932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 spc="40">
                <a:solidFill>
                  <a:srgbClr val="AAAAAA"/>
                </a:solidFill>
                <a:latin typeface="JetBrains Mono"/>
              </a:rPr>
              <a:t>RÔLES : CLIENT · SUPPORT · ADMIN</a:t>
            </a:r>
          </a:p>
        </p:txBody>
      </p:sp>
      <p:cxnSp>
        <p:nvCxnSpPr>
          <p:cNvPr id="10" name="!!NarrativePath"/>
          <p:cNvCxnSpPr/>
          <p:nvPr/>
        </p:nvCxnSpPr>
        <p:spPr>
          <a:xfrm>
            <a:off x="5074920" y="1783080"/>
            <a:ext cx="0" cy="4023360"/>
          </a:xfrm>
          <a:prstGeom prst="line">
            <a:avLst/>
          </a:prstGeom>
          <a:ln w="19050">
            <a:solidFill>
              <a:srgbClr val="1D1D1F"/>
            </a:solidFill>
            <a:tailEnd type="triangle" w="med" len="med"/>
          </a:ln>
        </p:spPr>
      </p:cxnSp>
      <p:sp>
        <p:nvSpPr>
          <p:cNvPr id="11" name="!!CleoSignal"/>
          <p:cNvSpPr/>
          <p:nvPr/>
        </p:nvSpPr>
        <p:spPr>
          <a:xfrm>
            <a:off x="5033772" y="1783080"/>
            <a:ext cx="82296" cy="1005840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!!LinkA"/>
          <p:cNvCxnSpPr/>
          <p:nvPr/>
        </p:nvCxnSpPr>
        <p:spPr>
          <a:xfrm>
            <a:off x="5394960" y="1280160"/>
            <a:ext cx="6245352" cy="0"/>
          </a:xfrm>
          <a:prstGeom prst="line">
            <a:avLst/>
          </a:prstGeom>
          <a:ln w="9525">
            <a:solidFill>
              <a:srgbClr val="AAAAAA"/>
            </a:solidFill>
          </a:ln>
        </p:spPr>
      </p:cxnSp>
      <p:cxnSp>
        <p:nvCxnSpPr>
          <p:cNvPr id="13" name="!!LinkB"/>
          <p:cNvCxnSpPr/>
          <p:nvPr/>
        </p:nvCxnSpPr>
        <p:spPr>
          <a:xfrm>
            <a:off x="5394960" y="2286000"/>
            <a:ext cx="6245352" cy="0"/>
          </a:xfrm>
          <a:prstGeom prst="line">
            <a:avLst/>
          </a:prstGeom>
          <a:ln w="9525">
            <a:solidFill>
              <a:srgbClr val="AAAAAA"/>
            </a:solidFill>
          </a:ln>
        </p:spPr>
      </p:cxnSp>
      <p:cxnSp>
        <p:nvCxnSpPr>
          <p:cNvPr id="14" name="!!LinkC"/>
          <p:cNvCxnSpPr/>
          <p:nvPr/>
        </p:nvCxnSpPr>
        <p:spPr>
          <a:xfrm>
            <a:off x="5394960" y="3291840"/>
            <a:ext cx="6245352" cy="0"/>
          </a:xfrm>
          <a:prstGeom prst="line">
            <a:avLst/>
          </a:prstGeom>
          <a:ln w="9525">
            <a:solidFill>
              <a:srgbClr val="AAAAAA"/>
            </a:solidFill>
          </a:ln>
        </p:spPr>
      </p:cxnSp>
      <p:cxnSp>
        <p:nvCxnSpPr>
          <p:cNvPr id="15" name="!!LinkD"/>
          <p:cNvCxnSpPr/>
          <p:nvPr/>
        </p:nvCxnSpPr>
        <p:spPr>
          <a:xfrm>
            <a:off x="5394960" y="4297680"/>
            <a:ext cx="6245352" cy="0"/>
          </a:xfrm>
          <a:prstGeom prst="line">
            <a:avLst/>
          </a:prstGeom>
          <a:ln w="9525">
            <a:solidFill>
              <a:srgbClr val="AAAAAA"/>
            </a:solidFill>
          </a:ln>
        </p:spPr>
      </p:cxnSp>
      <p:cxnSp>
        <p:nvCxnSpPr>
          <p:cNvPr id="16" name="!!LinkE"/>
          <p:cNvCxnSpPr/>
          <p:nvPr/>
        </p:nvCxnSpPr>
        <p:spPr>
          <a:xfrm>
            <a:off x="5394960" y="5303520"/>
            <a:ext cx="6245352" cy="0"/>
          </a:xfrm>
          <a:prstGeom prst="line">
            <a:avLst/>
          </a:prstGeom>
          <a:ln w="9525">
            <a:solidFill>
              <a:srgbClr val="AAAAAA"/>
            </a:solidFill>
          </a:ln>
        </p:spPr>
      </p:cxnSp>
      <p:cxnSp>
        <p:nvCxnSpPr>
          <p:cNvPr id="17" name="Filet bas"/>
          <p:cNvCxnSpPr/>
          <p:nvPr/>
        </p:nvCxnSpPr>
        <p:spPr>
          <a:xfrm>
            <a:off x="5394960" y="6309360"/>
            <a:ext cx="6245352" cy="0"/>
          </a:xfrm>
          <a:prstGeom prst="line">
            <a:avLst/>
          </a:prstGeom>
          <a:ln w="9525">
            <a:solidFill>
              <a:srgbClr val="AAAAAA"/>
            </a:solidFill>
          </a:ln>
        </p:spPr>
      </p:cxnSp>
      <p:sp>
        <p:nvSpPr>
          <p:cNvPr id="18" name="!!Node1"/>
          <p:cNvSpPr/>
          <p:nvPr/>
        </p:nvSpPr>
        <p:spPr>
          <a:xfrm>
            <a:off x="4974336" y="1682496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Étape admin 1"/>
          <p:cNvSpPr txBox="1"/>
          <p:nvPr/>
        </p:nvSpPr>
        <p:spPr>
          <a:xfrm>
            <a:off x="5532120" y="1581912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lang="fr-FR">
                <a:solidFill>
                  <a:srgbClr val="1D1D1F"/>
                </a:solidFill>
                <a:latin typeface="Instrument Sans"/>
              </a:rPr>
              <a:t>Catalogue</a:t>
            </a:r>
          </a:p>
        </p:txBody>
      </p:sp>
      <p:sp>
        <p:nvSpPr>
          <p:cNvPr id="20" name="Détail admin 1"/>
          <p:cNvSpPr txBox="1"/>
          <p:nvPr/>
        </p:nvSpPr>
        <p:spPr>
          <a:xfrm>
            <a:off x="8092440" y="1536192"/>
            <a:ext cx="35204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lang="fr-FR">
                <a:solidFill>
                  <a:srgbClr val="6E6E73"/>
                </a:solidFill>
                <a:latin typeface="Instrument Sans"/>
              </a:rPr>
              <a:t>Produits, marques, prix et promotions</a:t>
            </a:r>
          </a:p>
        </p:txBody>
      </p:sp>
      <p:sp>
        <p:nvSpPr>
          <p:cNvPr id="21" name="!!Node2"/>
          <p:cNvSpPr/>
          <p:nvPr/>
        </p:nvSpPr>
        <p:spPr>
          <a:xfrm>
            <a:off x="4974336" y="2688336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Étape admin 2"/>
          <p:cNvSpPr txBox="1"/>
          <p:nvPr/>
        </p:nvSpPr>
        <p:spPr>
          <a:xfrm>
            <a:off x="5532120" y="2587752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lang="fr-FR">
                <a:solidFill>
                  <a:srgbClr val="1D1D1F"/>
                </a:solidFill>
                <a:latin typeface="Instrument Sans"/>
              </a:rPr>
              <a:t>Stock</a:t>
            </a:r>
          </a:p>
        </p:txBody>
      </p:sp>
      <p:sp>
        <p:nvSpPr>
          <p:cNvPr id="23" name="Détail admin 2"/>
          <p:cNvSpPr txBox="1"/>
          <p:nvPr/>
        </p:nvSpPr>
        <p:spPr>
          <a:xfrm>
            <a:off x="8092440" y="2542032"/>
            <a:ext cx="35204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lang="fr-FR">
                <a:solidFill>
                  <a:srgbClr val="6E6E73"/>
                </a:solidFill>
                <a:latin typeface="Instrument Sans"/>
              </a:rPr>
              <a:t>Suivi des stocks, des lots et des dates</a:t>
            </a:r>
          </a:p>
        </p:txBody>
      </p:sp>
      <p:sp>
        <p:nvSpPr>
          <p:cNvPr id="24" name="!!Node3"/>
          <p:cNvSpPr/>
          <p:nvPr/>
        </p:nvSpPr>
        <p:spPr>
          <a:xfrm>
            <a:off x="4974336" y="3694176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Étape admin 3"/>
          <p:cNvSpPr txBox="1"/>
          <p:nvPr/>
        </p:nvSpPr>
        <p:spPr>
          <a:xfrm>
            <a:off x="5532120" y="3593592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lang="fr-FR">
                <a:solidFill>
                  <a:srgbClr val="1D1D1F"/>
                </a:solidFill>
                <a:latin typeface="Instrument Sans"/>
              </a:rPr>
              <a:t>Commandes</a:t>
            </a:r>
          </a:p>
        </p:txBody>
      </p:sp>
      <p:sp>
        <p:nvSpPr>
          <p:cNvPr id="26" name="Détail admin 3"/>
          <p:cNvSpPr txBox="1"/>
          <p:nvPr/>
        </p:nvSpPr>
        <p:spPr>
          <a:xfrm>
            <a:off x="8092440" y="3547872"/>
            <a:ext cx="35204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lang="fr-FR">
                <a:solidFill>
                  <a:srgbClr val="6E6E73"/>
                </a:solidFill>
                <a:latin typeface="Instrument Sans"/>
              </a:rPr>
              <a:t>Traitement et préparation des commandes</a:t>
            </a:r>
          </a:p>
        </p:txBody>
      </p:sp>
      <p:sp>
        <p:nvSpPr>
          <p:cNvPr id="27" name="!!Node4"/>
          <p:cNvSpPr/>
          <p:nvPr/>
        </p:nvSpPr>
        <p:spPr>
          <a:xfrm>
            <a:off x="4974336" y="4700016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Étape admin 4"/>
          <p:cNvSpPr txBox="1"/>
          <p:nvPr/>
        </p:nvSpPr>
        <p:spPr>
          <a:xfrm>
            <a:off x="5532120" y="4599432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lang="fr-FR">
                <a:solidFill>
                  <a:srgbClr val="1D1D1F"/>
                </a:solidFill>
                <a:latin typeface="Instrument Sans"/>
              </a:rPr>
              <a:t>Clientèle</a:t>
            </a:r>
          </a:p>
        </p:txBody>
      </p:sp>
      <p:sp>
        <p:nvSpPr>
          <p:cNvPr id="29" name="Détail admin 4"/>
          <p:cNvSpPr txBox="1"/>
          <p:nvPr/>
        </p:nvSpPr>
        <p:spPr>
          <a:xfrm>
            <a:off x="8092440" y="4553712"/>
            <a:ext cx="35204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lang="fr-FR">
                <a:solidFill>
                  <a:srgbClr val="6E6E73"/>
                </a:solidFill>
                <a:latin typeface="Instrument Sans"/>
              </a:rPr>
              <a:t>Clients, retours et factures</a:t>
            </a:r>
          </a:p>
        </p:txBody>
      </p:sp>
      <p:sp>
        <p:nvSpPr>
          <p:cNvPr id="30" name="!!Node5"/>
          <p:cNvSpPr/>
          <p:nvPr/>
        </p:nvSpPr>
        <p:spPr>
          <a:xfrm>
            <a:off x="4974336" y="5705856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Étape admin 5"/>
          <p:cNvSpPr txBox="1"/>
          <p:nvPr/>
        </p:nvSpPr>
        <p:spPr>
          <a:xfrm>
            <a:off x="5532120" y="5605272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lang="fr-FR">
                <a:solidFill>
                  <a:srgbClr val="1D1D1F"/>
                </a:solidFill>
                <a:latin typeface="Instrument Sans"/>
              </a:rPr>
              <a:t>Suivi</a:t>
            </a:r>
          </a:p>
        </p:txBody>
      </p:sp>
      <p:sp>
        <p:nvSpPr>
          <p:cNvPr id="32" name="Détail admin 5"/>
          <p:cNvSpPr txBox="1"/>
          <p:nvPr/>
        </p:nvSpPr>
        <p:spPr>
          <a:xfrm>
            <a:off x="8092440" y="5559552"/>
            <a:ext cx="35204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lang="fr-FR">
                <a:solidFill>
                  <a:srgbClr val="6E6E73"/>
                </a:solidFill>
                <a:latin typeface="Instrument Sans"/>
              </a:rPr>
              <a:t>Support, e-mails transactionnels et activité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rojectLabel"/>
          <p:cNvSpPr txBox="1"/>
          <p:nvPr/>
        </p:nvSpPr>
        <p:spPr>
          <a:xfrm>
            <a:off x="548640" y="31089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lang="fr-FR" spc="150">
                <a:solidFill>
                  <a:srgbClr val="1D1D1F"/>
                </a:solidFill>
                <a:latin typeface="Anton"/>
              </a:rPr>
              <a:t>CLÉOPÂTRE</a:t>
            </a:r>
          </a:p>
        </p:txBody>
      </p:sp>
      <p:sp>
        <p:nvSpPr>
          <p:cNvPr id="3" name="!!ChapterIndex"/>
          <p:cNvSpPr txBox="1"/>
          <p:nvPr/>
        </p:nvSpPr>
        <p:spPr>
          <a:xfrm>
            <a:off x="5239512" y="36576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09 / 20   ·   BESOINS NON FONCTIONNELS</a:t>
            </a:r>
          </a:p>
        </p:txBody>
      </p:sp>
      <p:sp>
        <p:nvSpPr>
          <p:cNvPr id="4" name="!!MorphHeadline"/>
          <p:cNvSpPr txBox="1"/>
          <p:nvPr/>
        </p:nvSpPr>
        <p:spPr>
          <a:xfrm>
            <a:off x="548640" y="804672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000" b="1" lang="fr-FR">
                <a:solidFill>
                  <a:srgbClr val="1D1D1F"/>
                </a:solidFill>
                <a:latin typeface="Instrument Sans"/>
              </a:rPr>
              <a:t>Besoins non fonctionnels</a:t>
            </a:r>
          </a:p>
        </p:txBody>
      </p:sp>
      <p:sp>
        <p:nvSpPr>
          <p:cNvPr id="5" name="Sous-titre qualité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 lang="fr-FR">
                <a:solidFill>
                  <a:srgbClr val="6E6E73"/>
                </a:solidFill>
                <a:latin typeface="Instrument Sans"/>
              </a:rPr>
              <a:t>Objectif général à gauche · mécanisme réellement mis en œuvre à droite. Ni certification ni score revendiqués.</a:t>
            </a:r>
          </a:p>
        </p:txBody>
      </p:sp>
      <p:sp>
        <p:nvSpPr>
          <p:cNvPr id="6" name="Colonne qualité"/>
          <p:cNvSpPr txBox="1"/>
          <p:nvPr/>
        </p:nvSpPr>
        <p:spPr>
          <a:xfrm>
            <a:off x="1417320" y="1828800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QUALITÉ</a:t>
            </a:r>
          </a:p>
        </p:txBody>
      </p:sp>
      <p:sp>
        <p:nvSpPr>
          <p:cNvPr id="7" name="Colonne objectif"/>
          <p:cNvSpPr txBox="1"/>
          <p:nvPr/>
        </p:nvSpPr>
        <p:spPr>
          <a:xfrm>
            <a:off x="4206240" y="182880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OBJECTIF GÉNÉRAL</a:t>
            </a:r>
          </a:p>
        </p:txBody>
      </p:sp>
      <p:sp>
        <p:nvSpPr>
          <p:cNvPr id="8" name="Colonne mécanisme"/>
          <p:cNvSpPr txBox="1"/>
          <p:nvPr/>
        </p:nvSpPr>
        <p:spPr>
          <a:xfrm>
            <a:off x="7589520" y="1828800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 spc="60">
                <a:solidFill>
                  <a:srgbClr val="075E46"/>
                </a:solidFill>
                <a:latin typeface="JetBrains Mono"/>
              </a:rPr>
              <a:t>MÉCANISME MIS EN ŒUVRE</a:t>
            </a:r>
          </a:p>
        </p:txBody>
      </p:sp>
      <p:cxnSp>
        <p:nvCxnSpPr>
          <p:cNvPr id="9" name="!!NarrativePath"/>
          <p:cNvCxnSpPr/>
          <p:nvPr/>
        </p:nvCxnSpPr>
        <p:spPr>
          <a:xfrm>
            <a:off x="7269480" y="1810512"/>
            <a:ext cx="0" cy="4558284"/>
          </a:xfrm>
          <a:prstGeom prst="line">
            <a:avLst/>
          </a:prstGeom>
          <a:ln w="25400">
            <a:solidFill>
              <a:srgbClr val="075E46"/>
            </a:solidFill>
          </a:ln>
        </p:spPr>
      </p:cxnSp>
      <p:cxnSp>
        <p:nvCxnSpPr>
          <p:cNvPr id="10" name="!!LinkA"/>
          <p:cNvCxnSpPr/>
          <p:nvPr/>
        </p:nvCxnSpPr>
        <p:spPr>
          <a:xfrm>
            <a:off x="548640" y="2176272"/>
            <a:ext cx="11091672" cy="0"/>
          </a:xfrm>
          <a:prstGeom prst="line">
            <a:avLst/>
          </a:prstGeom>
          <a:ln w="19050">
            <a:solidFill>
              <a:srgbClr val="1D1D1F"/>
            </a:solidFill>
          </a:ln>
        </p:spPr>
      </p:cxnSp>
      <p:cxnSp>
        <p:nvCxnSpPr>
          <p:cNvPr id="11" name="!!LinkB"/>
          <p:cNvCxnSpPr/>
          <p:nvPr/>
        </p:nvCxnSpPr>
        <p:spPr>
          <a:xfrm>
            <a:off x="548640" y="2775204"/>
            <a:ext cx="11091672" cy="0"/>
          </a:xfrm>
          <a:prstGeom prst="line">
            <a:avLst/>
          </a:prstGeom>
          <a:ln w="9525">
            <a:solidFill>
              <a:srgbClr val="AAAAAA"/>
            </a:solidFill>
          </a:ln>
        </p:spPr>
      </p:cxnSp>
      <p:cxnSp>
        <p:nvCxnSpPr>
          <p:cNvPr id="12" name="!!LinkC"/>
          <p:cNvCxnSpPr/>
          <p:nvPr/>
        </p:nvCxnSpPr>
        <p:spPr>
          <a:xfrm>
            <a:off x="548640" y="3374136"/>
            <a:ext cx="11091672" cy="0"/>
          </a:xfrm>
          <a:prstGeom prst="line">
            <a:avLst/>
          </a:prstGeom>
          <a:ln w="9525">
            <a:solidFill>
              <a:srgbClr val="AAAAAA"/>
            </a:solidFill>
          </a:ln>
        </p:spPr>
      </p:cxnSp>
      <p:cxnSp>
        <p:nvCxnSpPr>
          <p:cNvPr id="13" name="!!LinkD"/>
          <p:cNvCxnSpPr/>
          <p:nvPr/>
        </p:nvCxnSpPr>
        <p:spPr>
          <a:xfrm>
            <a:off x="548640" y="3973068"/>
            <a:ext cx="11091672" cy="0"/>
          </a:xfrm>
          <a:prstGeom prst="line">
            <a:avLst/>
          </a:prstGeom>
          <a:ln w="9525">
            <a:solidFill>
              <a:srgbClr val="AAAAAA"/>
            </a:solidFill>
          </a:ln>
        </p:spPr>
      </p:cxnSp>
      <p:cxnSp>
        <p:nvCxnSpPr>
          <p:cNvPr id="14" name="!!LinkE"/>
          <p:cNvCxnSpPr/>
          <p:nvPr/>
        </p:nvCxnSpPr>
        <p:spPr>
          <a:xfrm>
            <a:off x="548640" y="4572000"/>
            <a:ext cx="11091672" cy="0"/>
          </a:xfrm>
          <a:prstGeom prst="line">
            <a:avLst/>
          </a:prstGeom>
          <a:ln w="9525">
            <a:solidFill>
              <a:srgbClr val="AAAAAA"/>
            </a:solidFill>
          </a:ln>
        </p:spPr>
      </p:cxnSp>
      <p:cxnSp>
        <p:nvCxnSpPr>
          <p:cNvPr id="15" name="Filet F"/>
          <p:cNvCxnSpPr/>
          <p:nvPr/>
        </p:nvCxnSpPr>
        <p:spPr>
          <a:xfrm>
            <a:off x="548640" y="5170932"/>
            <a:ext cx="11091672" cy="0"/>
          </a:xfrm>
          <a:prstGeom prst="line">
            <a:avLst/>
          </a:prstGeom>
          <a:ln w="9525">
            <a:solidFill>
              <a:srgbClr val="AAAAAA"/>
            </a:solidFill>
          </a:ln>
        </p:spPr>
      </p:cxnSp>
      <p:cxnSp>
        <p:nvCxnSpPr>
          <p:cNvPr id="16" name="Filet G"/>
          <p:cNvCxnSpPr/>
          <p:nvPr/>
        </p:nvCxnSpPr>
        <p:spPr>
          <a:xfrm>
            <a:off x="548640" y="5769864"/>
            <a:ext cx="11091672" cy="0"/>
          </a:xfrm>
          <a:prstGeom prst="line">
            <a:avLst/>
          </a:prstGeom>
          <a:ln w="9525">
            <a:solidFill>
              <a:srgbClr val="AAAAAA"/>
            </a:solidFill>
          </a:ln>
        </p:spPr>
      </p:cxnSp>
      <p:cxnSp>
        <p:nvCxnSpPr>
          <p:cNvPr id="17" name="Filet H"/>
          <p:cNvCxnSpPr/>
          <p:nvPr/>
        </p:nvCxnSpPr>
        <p:spPr>
          <a:xfrm>
            <a:off x="548640" y="6368796"/>
            <a:ext cx="11091672" cy="0"/>
          </a:xfrm>
          <a:prstGeom prst="line">
            <a:avLst/>
          </a:prstGeom>
          <a:ln w="9525">
            <a:solidFill>
              <a:srgbClr val="AAAAAA"/>
            </a:solidFill>
          </a:ln>
        </p:spPr>
      </p:cxnSp>
      <p:sp>
        <p:nvSpPr>
          <p:cNvPr id="18" name="Code NF 1"/>
          <p:cNvSpPr txBox="1"/>
          <p:nvPr/>
        </p:nvSpPr>
        <p:spPr>
          <a:xfrm>
            <a:off x="548640" y="23317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>
                <a:solidFill>
                  <a:srgbClr val="6E6E73"/>
                </a:solidFill>
                <a:latin typeface="JetBrains Mono"/>
              </a:rPr>
              <a:t>NF-01</a:t>
            </a:r>
          </a:p>
        </p:txBody>
      </p:sp>
      <p:sp>
        <p:nvSpPr>
          <p:cNvPr id="19" name="!!ReqSecurite"/>
          <p:cNvSpPr txBox="1"/>
          <p:nvPr/>
        </p:nvSpPr>
        <p:spPr>
          <a:xfrm>
            <a:off x="1417320" y="230428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lang="fr-FR">
                <a:solidFill>
                  <a:srgbClr val="1D1D1F"/>
                </a:solidFill>
                <a:latin typeface="Instrument Sans"/>
              </a:rPr>
              <a:t>Sécurité</a:t>
            </a:r>
          </a:p>
        </p:txBody>
      </p:sp>
      <p:sp>
        <p:nvSpPr>
          <p:cNvPr id="20" name="Objectif 1"/>
          <p:cNvSpPr txBox="1"/>
          <p:nvPr/>
        </p:nvSpPr>
        <p:spPr>
          <a:xfrm>
            <a:off x="4206240" y="231343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 lang="fr-FR">
                <a:solidFill>
                  <a:srgbClr val="6E6E73"/>
                </a:solidFill>
                <a:latin typeface="Instrument Sans"/>
              </a:rPr>
              <a:t>Protéger les accès</a:t>
            </a:r>
          </a:p>
        </p:txBody>
      </p:sp>
      <p:sp>
        <p:nvSpPr>
          <p:cNvPr id="21" name="!!Node1"/>
          <p:cNvSpPr/>
          <p:nvPr/>
        </p:nvSpPr>
        <p:spPr>
          <a:xfrm>
            <a:off x="7406640" y="2359152"/>
            <a:ext cx="155448" cy="155448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Mécanisme 1"/>
          <p:cNvSpPr txBox="1"/>
          <p:nvPr/>
        </p:nvSpPr>
        <p:spPr>
          <a:xfrm>
            <a:off x="7726680" y="2240280"/>
            <a:ext cx="391363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lang="fr-FR">
                <a:solidFill>
                  <a:srgbClr val="1D1D1F"/>
                </a:solidFill>
                <a:latin typeface="Instrument Sans"/>
              </a:rPr>
              <a:t>Sessions protégées ; rôles vérifiés côté serveur</a:t>
            </a:r>
          </a:p>
        </p:txBody>
      </p:sp>
      <p:sp>
        <p:nvSpPr>
          <p:cNvPr id="23" name="Code NF 2"/>
          <p:cNvSpPr txBox="1"/>
          <p:nvPr/>
        </p:nvSpPr>
        <p:spPr>
          <a:xfrm>
            <a:off x="548640" y="29306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>
                <a:solidFill>
                  <a:srgbClr val="6E6E73"/>
                </a:solidFill>
                <a:latin typeface="JetBrains Mono"/>
              </a:rPr>
              <a:t>NF-02</a:t>
            </a:r>
          </a:p>
        </p:txBody>
      </p:sp>
      <p:sp>
        <p:nvSpPr>
          <p:cNvPr id="24" name="!!ReqValidation"/>
          <p:cNvSpPr txBox="1"/>
          <p:nvPr/>
        </p:nvSpPr>
        <p:spPr>
          <a:xfrm>
            <a:off x="1417320" y="290322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lang="fr-FR">
                <a:solidFill>
                  <a:srgbClr val="1D1D1F"/>
                </a:solidFill>
                <a:latin typeface="Instrument Sans"/>
              </a:rPr>
              <a:t>Validation</a:t>
            </a:r>
          </a:p>
        </p:txBody>
      </p:sp>
      <p:sp>
        <p:nvSpPr>
          <p:cNvPr id="25" name="Objectif 2"/>
          <p:cNvSpPr txBox="1"/>
          <p:nvPr/>
        </p:nvSpPr>
        <p:spPr>
          <a:xfrm>
            <a:off x="4206240" y="2912364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 lang="fr-FR">
                <a:solidFill>
                  <a:srgbClr val="6E6E73"/>
                </a:solidFill>
                <a:latin typeface="Instrument Sans"/>
              </a:rPr>
              <a:t>Fiabiliser les saisies</a:t>
            </a:r>
          </a:p>
        </p:txBody>
      </p:sp>
      <p:sp>
        <p:nvSpPr>
          <p:cNvPr id="26" name="!!Node2"/>
          <p:cNvSpPr/>
          <p:nvPr/>
        </p:nvSpPr>
        <p:spPr>
          <a:xfrm>
            <a:off x="7406640" y="2958084"/>
            <a:ext cx="155448" cy="155448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Mécanisme 2"/>
          <p:cNvSpPr txBox="1"/>
          <p:nvPr/>
        </p:nvSpPr>
        <p:spPr>
          <a:xfrm>
            <a:off x="7726680" y="2839212"/>
            <a:ext cx="391363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lang="fr-FR">
                <a:solidFill>
                  <a:srgbClr val="1D1D1F"/>
                </a:solidFill>
                <a:latin typeface="Instrument Sans"/>
              </a:rPr>
              <a:t>Entrées contrôlées avant traitement (Zod)</a:t>
            </a:r>
          </a:p>
        </p:txBody>
      </p:sp>
      <p:sp>
        <p:nvSpPr>
          <p:cNvPr id="28" name="Code NF 3"/>
          <p:cNvSpPr txBox="1"/>
          <p:nvPr/>
        </p:nvSpPr>
        <p:spPr>
          <a:xfrm>
            <a:off x="548640" y="352958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>
                <a:solidFill>
                  <a:srgbClr val="6E6E73"/>
                </a:solidFill>
                <a:latin typeface="JetBrains Mono"/>
              </a:rPr>
              <a:t>NF-03</a:t>
            </a:r>
          </a:p>
        </p:txBody>
      </p:sp>
      <p:sp>
        <p:nvSpPr>
          <p:cNvPr id="29" name="!!ReqResilience"/>
          <p:cNvSpPr txBox="1"/>
          <p:nvPr/>
        </p:nvSpPr>
        <p:spPr>
          <a:xfrm>
            <a:off x="1417320" y="3502152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lang="fr-FR">
                <a:solidFill>
                  <a:srgbClr val="1D1D1F"/>
                </a:solidFill>
                <a:latin typeface="Instrument Sans"/>
              </a:rPr>
              <a:t>Résilience</a:t>
            </a:r>
          </a:p>
        </p:txBody>
      </p:sp>
      <p:sp>
        <p:nvSpPr>
          <p:cNvPr id="30" name="Objectif 3"/>
          <p:cNvSpPr txBox="1"/>
          <p:nvPr/>
        </p:nvSpPr>
        <p:spPr>
          <a:xfrm>
            <a:off x="4206240" y="3511296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 lang="fr-FR">
                <a:solidFill>
                  <a:srgbClr val="6E6E73"/>
                </a:solidFill>
                <a:latin typeface="Instrument Sans"/>
              </a:rPr>
              <a:t>Rester disponible</a:t>
            </a:r>
          </a:p>
        </p:txBody>
      </p:sp>
      <p:sp>
        <p:nvSpPr>
          <p:cNvPr id="31" name="!!Node3"/>
          <p:cNvSpPr/>
          <p:nvPr/>
        </p:nvSpPr>
        <p:spPr>
          <a:xfrm>
            <a:off x="7406640" y="3557016"/>
            <a:ext cx="155448" cy="155448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écanisme 3"/>
          <p:cNvSpPr txBox="1"/>
          <p:nvPr/>
        </p:nvSpPr>
        <p:spPr>
          <a:xfrm>
            <a:off x="7726680" y="3438144"/>
            <a:ext cx="391363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lang="fr-FR">
                <a:solidFill>
                  <a:srgbClr val="1D1D1F"/>
                </a:solidFill>
                <a:latin typeface="Instrument Sans"/>
              </a:rPr>
              <a:t>Limitation de débit ; gestion des erreurs</a:t>
            </a:r>
          </a:p>
        </p:txBody>
      </p:sp>
      <p:sp>
        <p:nvSpPr>
          <p:cNvPr id="33" name="Code NF 4"/>
          <p:cNvSpPr txBox="1"/>
          <p:nvPr/>
        </p:nvSpPr>
        <p:spPr>
          <a:xfrm>
            <a:off x="548640" y="41285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>
                <a:solidFill>
                  <a:srgbClr val="6E6E73"/>
                </a:solidFill>
                <a:latin typeface="JetBrains Mono"/>
              </a:rPr>
              <a:t>NF-04</a:t>
            </a:r>
          </a:p>
        </p:txBody>
      </p:sp>
      <p:sp>
        <p:nvSpPr>
          <p:cNvPr id="34" name="Qualité 4"/>
          <p:cNvSpPr txBox="1"/>
          <p:nvPr/>
        </p:nvSpPr>
        <p:spPr>
          <a:xfrm>
            <a:off x="1417320" y="4101084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lang="fr-FR">
                <a:solidFill>
                  <a:srgbClr val="1D1D1F"/>
                </a:solidFill>
                <a:latin typeface="Instrument Sans"/>
              </a:rPr>
              <a:t>Adaptation</a:t>
            </a:r>
          </a:p>
        </p:txBody>
      </p:sp>
      <p:sp>
        <p:nvSpPr>
          <p:cNvPr id="35" name="Objectif 4"/>
          <p:cNvSpPr txBox="1"/>
          <p:nvPr/>
        </p:nvSpPr>
        <p:spPr>
          <a:xfrm>
            <a:off x="4206240" y="411022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 lang="fr-FR">
                <a:solidFill>
                  <a:srgbClr val="6E6E73"/>
                </a:solidFill>
                <a:latin typeface="Instrument Sans"/>
              </a:rPr>
              <a:t>Servir tous les écrans</a:t>
            </a:r>
          </a:p>
        </p:txBody>
      </p:sp>
      <p:sp>
        <p:nvSpPr>
          <p:cNvPr id="36" name="!!Node4"/>
          <p:cNvSpPr/>
          <p:nvPr/>
        </p:nvSpPr>
        <p:spPr>
          <a:xfrm>
            <a:off x="7406640" y="4155948"/>
            <a:ext cx="155448" cy="155448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Mécanisme 4"/>
          <p:cNvSpPr txBox="1"/>
          <p:nvPr/>
        </p:nvSpPr>
        <p:spPr>
          <a:xfrm>
            <a:off x="7726680" y="4037076"/>
            <a:ext cx="391363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lang="fr-FR">
                <a:solidFill>
                  <a:srgbClr val="1D1D1F"/>
                </a:solidFill>
                <a:latin typeface="Instrument Sans"/>
              </a:rPr>
              <a:t>Écrans adaptatifs ; mouvement réduit respecté</a:t>
            </a:r>
          </a:p>
        </p:txBody>
      </p:sp>
      <p:sp>
        <p:nvSpPr>
          <p:cNvPr id="38" name="Code NF 5"/>
          <p:cNvSpPr txBox="1"/>
          <p:nvPr/>
        </p:nvSpPr>
        <p:spPr>
          <a:xfrm>
            <a:off x="548640" y="472744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>
                <a:solidFill>
                  <a:srgbClr val="6E6E73"/>
                </a:solidFill>
                <a:latin typeface="JetBrains Mono"/>
              </a:rPr>
              <a:t>NF-05</a:t>
            </a:r>
          </a:p>
        </p:txBody>
      </p:sp>
      <p:sp>
        <p:nvSpPr>
          <p:cNvPr id="39" name="Qualité 5"/>
          <p:cNvSpPr txBox="1"/>
          <p:nvPr/>
        </p:nvSpPr>
        <p:spPr>
          <a:xfrm>
            <a:off x="1417320" y="4700016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lang="fr-FR">
                <a:solidFill>
                  <a:srgbClr val="1D1D1F"/>
                </a:solidFill>
                <a:latin typeface="Instrument Sans"/>
              </a:rPr>
              <a:t>Performance</a:t>
            </a:r>
          </a:p>
        </p:txBody>
      </p:sp>
      <p:sp>
        <p:nvSpPr>
          <p:cNvPr id="40" name="Objectif 5"/>
          <p:cNvSpPr txBox="1"/>
          <p:nvPr/>
        </p:nvSpPr>
        <p:spPr>
          <a:xfrm>
            <a:off x="4206240" y="4709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 lang="fr-FR">
                <a:solidFill>
                  <a:srgbClr val="6E6E73"/>
                </a:solidFill>
                <a:latin typeface="Instrument Sans"/>
              </a:rPr>
              <a:t>Navigation fluide</a:t>
            </a:r>
          </a:p>
        </p:txBody>
      </p:sp>
      <p:sp>
        <p:nvSpPr>
          <p:cNvPr id="41" name="!!Node5"/>
          <p:cNvSpPr/>
          <p:nvPr/>
        </p:nvSpPr>
        <p:spPr>
          <a:xfrm>
            <a:off x="7406640" y="4754880"/>
            <a:ext cx="155448" cy="155448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Mécanisme 5"/>
          <p:cNvSpPr txBox="1"/>
          <p:nvPr/>
        </p:nvSpPr>
        <p:spPr>
          <a:xfrm>
            <a:off x="7726680" y="4636008"/>
            <a:ext cx="391363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lang="fr-FR">
                <a:solidFill>
                  <a:srgbClr val="1D1D1F"/>
                </a:solidFill>
                <a:latin typeface="Instrument Sans"/>
              </a:rPr>
              <a:t>Images optimisées ; vidéo chargée à la demande</a:t>
            </a:r>
          </a:p>
        </p:txBody>
      </p:sp>
      <p:sp>
        <p:nvSpPr>
          <p:cNvPr id="43" name="Code NF 6"/>
          <p:cNvSpPr txBox="1"/>
          <p:nvPr/>
        </p:nvSpPr>
        <p:spPr>
          <a:xfrm>
            <a:off x="548640" y="53263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>
                <a:solidFill>
                  <a:srgbClr val="6E6E73"/>
                </a:solidFill>
                <a:latin typeface="JetBrains Mono"/>
              </a:rPr>
              <a:t>NF-06</a:t>
            </a:r>
          </a:p>
        </p:txBody>
      </p:sp>
      <p:sp>
        <p:nvSpPr>
          <p:cNvPr id="44" name="Qualité 6"/>
          <p:cNvSpPr txBox="1"/>
          <p:nvPr/>
        </p:nvSpPr>
        <p:spPr>
          <a:xfrm>
            <a:off x="1417320" y="529894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lang="fr-FR">
                <a:solidFill>
                  <a:srgbClr val="1D1D1F"/>
                </a:solidFill>
                <a:latin typeface="Instrument Sans"/>
              </a:rPr>
              <a:t>Évolutivité</a:t>
            </a:r>
          </a:p>
        </p:txBody>
      </p:sp>
      <p:sp>
        <p:nvSpPr>
          <p:cNvPr id="45" name="Objectif 6"/>
          <p:cNvSpPr txBox="1"/>
          <p:nvPr/>
        </p:nvSpPr>
        <p:spPr>
          <a:xfrm>
            <a:off x="4206240" y="530809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 lang="fr-FR">
                <a:solidFill>
                  <a:srgbClr val="6E6E73"/>
                </a:solidFill>
                <a:latin typeface="Instrument Sans"/>
              </a:rPr>
              <a:t>Faire évoluer le code</a:t>
            </a:r>
          </a:p>
        </p:txBody>
      </p:sp>
      <p:sp>
        <p:nvSpPr>
          <p:cNvPr id="46" name="Repère NF 6"/>
          <p:cNvSpPr/>
          <p:nvPr/>
        </p:nvSpPr>
        <p:spPr>
          <a:xfrm>
            <a:off x="7406640" y="5353812"/>
            <a:ext cx="155448" cy="155448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Mécanisme 6"/>
          <p:cNvSpPr txBox="1"/>
          <p:nvPr/>
        </p:nvSpPr>
        <p:spPr>
          <a:xfrm>
            <a:off x="7726680" y="5234940"/>
            <a:ext cx="391363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lang="fr-FR">
                <a:solidFill>
                  <a:srgbClr val="1D1D1F"/>
                </a:solidFill>
                <a:latin typeface="Instrument Sans"/>
              </a:rPr>
              <a:t>Code modulaire, TypeScript et PostgreSQL</a:t>
            </a:r>
          </a:p>
        </p:txBody>
      </p:sp>
      <p:sp>
        <p:nvSpPr>
          <p:cNvPr id="48" name="Code NF 7"/>
          <p:cNvSpPr txBox="1"/>
          <p:nvPr/>
        </p:nvSpPr>
        <p:spPr>
          <a:xfrm>
            <a:off x="548640" y="592531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>
                <a:solidFill>
                  <a:srgbClr val="6E6E73"/>
                </a:solidFill>
                <a:latin typeface="JetBrains Mono"/>
              </a:rPr>
              <a:t>NF-07</a:t>
            </a:r>
          </a:p>
        </p:txBody>
      </p:sp>
      <p:sp>
        <p:nvSpPr>
          <p:cNvPr id="49" name="Qualité 7"/>
          <p:cNvSpPr txBox="1"/>
          <p:nvPr/>
        </p:nvSpPr>
        <p:spPr>
          <a:xfrm>
            <a:off x="1417320" y="589788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lang="fr-FR">
                <a:solidFill>
                  <a:srgbClr val="1D1D1F"/>
                </a:solidFill>
                <a:latin typeface="Instrument Sans"/>
              </a:rPr>
              <a:t>Localisation</a:t>
            </a:r>
          </a:p>
        </p:txBody>
      </p:sp>
      <p:sp>
        <p:nvSpPr>
          <p:cNvPr id="50" name="Objectif 7"/>
          <p:cNvSpPr txBox="1"/>
          <p:nvPr/>
        </p:nvSpPr>
        <p:spPr>
          <a:xfrm>
            <a:off x="4206240" y="5907024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 lang="fr-FR">
                <a:solidFill>
                  <a:srgbClr val="6E6E73"/>
                </a:solidFill>
                <a:latin typeface="Instrument Sans"/>
              </a:rPr>
              <a:t>Parler la langue du client</a:t>
            </a:r>
          </a:p>
        </p:txBody>
      </p:sp>
      <p:sp>
        <p:nvSpPr>
          <p:cNvPr id="51" name="Repère NF 7"/>
          <p:cNvSpPr/>
          <p:nvPr/>
        </p:nvSpPr>
        <p:spPr>
          <a:xfrm>
            <a:off x="7406640" y="5952744"/>
            <a:ext cx="155448" cy="155448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Mécanisme 7"/>
          <p:cNvSpPr txBox="1"/>
          <p:nvPr/>
        </p:nvSpPr>
        <p:spPr>
          <a:xfrm>
            <a:off x="7726680" y="5833872"/>
            <a:ext cx="391363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lang="fr-FR">
                <a:solidFill>
                  <a:srgbClr val="1D1D1F"/>
                </a:solidFill>
                <a:latin typeface="Instrument Sans"/>
              </a:rPr>
              <a:t>Français, tounsi et arabe tunisien</a:t>
            </a:r>
          </a:p>
        </p:txBody>
      </p:sp>
      <p:sp>
        <p:nvSpPr>
          <p:cNvPr id="53" name="!!CleoSignal"/>
          <p:cNvSpPr/>
          <p:nvPr/>
        </p:nvSpPr>
        <p:spPr>
          <a:xfrm>
            <a:off x="7191756" y="1810512"/>
            <a:ext cx="246888" cy="246888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rojectLabel"/>
          <p:cNvSpPr txBox="1"/>
          <p:nvPr/>
        </p:nvSpPr>
        <p:spPr>
          <a:xfrm>
            <a:off x="548640" y="31089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lang="fr-FR" spc="150">
                <a:solidFill>
                  <a:srgbClr val="1D1D1F"/>
                </a:solidFill>
                <a:latin typeface="Anton"/>
              </a:rPr>
              <a:t>CLÉOPÂTRE</a:t>
            </a:r>
          </a:p>
        </p:txBody>
      </p:sp>
      <p:sp>
        <p:nvSpPr>
          <p:cNvPr id="3" name="!!ChapterIndex"/>
          <p:cNvSpPr txBox="1"/>
          <p:nvPr/>
        </p:nvSpPr>
        <p:spPr>
          <a:xfrm>
            <a:off x="5239512" y="36576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10 / 20   ·   MODÉLISATION ET RÉALISATION</a:t>
            </a:r>
          </a:p>
        </p:txBody>
      </p:sp>
      <p:sp>
        <p:nvSpPr>
          <p:cNvPr id="4" name="!!MorphHeadline"/>
          <p:cNvSpPr txBox="1"/>
          <p:nvPr/>
        </p:nvSpPr>
        <p:spPr>
          <a:xfrm>
            <a:off x="548640" y="804672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000" b="1" lang="fr-FR">
                <a:solidFill>
                  <a:srgbClr val="1D1D1F"/>
                </a:solidFill>
                <a:latin typeface="Instrument Sans"/>
              </a:rPr>
              <a:t>Architecture de la plateforme</a:t>
            </a:r>
          </a:p>
        </p:txBody>
      </p:sp>
      <p:sp>
        <p:nvSpPr>
          <p:cNvPr id="5" name="Sous-titre archi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 lang="fr-FR">
                <a:solidFill>
                  <a:srgbClr val="6E6E73"/>
                </a:solidFill>
                <a:latin typeface="Instrument Sans"/>
              </a:rPr>
              <a:t>Du navigateur à la base de données : un seul chemin, côté serveur, pour toutes les données.</a:t>
            </a:r>
          </a:p>
        </p:txBody>
      </p:sp>
      <p:sp>
        <p:nvSpPr>
          <p:cNvPr id="6" name="Index nœud 1"/>
          <p:cNvSpPr txBox="1"/>
          <p:nvPr/>
        </p:nvSpPr>
        <p:spPr>
          <a:xfrm>
            <a:off x="548640" y="221284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01</a:t>
            </a:r>
          </a:p>
        </p:txBody>
      </p:sp>
      <p:sp>
        <p:nvSpPr>
          <p:cNvPr id="7" name="!!Node1"/>
          <p:cNvSpPr/>
          <p:nvPr/>
        </p:nvSpPr>
        <p:spPr>
          <a:xfrm>
            <a:off x="548640" y="2560320"/>
            <a:ext cx="1554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</a:ln>
        </p:spPr>
        <p:txBody>
          <a:bodyPr rtlCol="0" anchor="ctr" wrap="square" lIns="91440" tIns="91440" rIns="91440" bIns="91440">
            <a:no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700" b="1" lang="fr-FR">
                <a:solidFill>
                  <a:srgbClr val="1D1D1F"/>
                </a:solidFill>
                <a:latin typeface="Instrument Sans"/>
              </a:rPr>
              <a:t>Client / équipe</a:t>
            </a:r>
          </a:p>
          <a:p>
            <a:pPr algn="l">
              <a:spcAft>
                <a:spcPts val="0"/>
              </a:spcAft>
            </a:pPr>
            <a:r>
              <a:rPr sz="1200" b="0" lang="fr-FR">
                <a:solidFill>
                  <a:srgbClr val="6E6E73"/>
                </a:solidFill>
                <a:latin typeface="JetBrains Mono"/>
              </a:rPr>
              <a:t>visiteur · équipe</a:t>
            </a:r>
          </a:p>
        </p:txBody>
      </p:sp>
      <p:sp>
        <p:nvSpPr>
          <p:cNvPr id="8" name="Index nœud 2"/>
          <p:cNvSpPr txBox="1"/>
          <p:nvPr/>
        </p:nvSpPr>
        <p:spPr>
          <a:xfrm>
            <a:off x="2456078" y="221284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02</a:t>
            </a:r>
          </a:p>
        </p:txBody>
      </p:sp>
      <p:sp>
        <p:nvSpPr>
          <p:cNvPr id="9" name="!!Node2"/>
          <p:cNvSpPr/>
          <p:nvPr/>
        </p:nvSpPr>
        <p:spPr>
          <a:xfrm>
            <a:off x="2456078" y="2560320"/>
            <a:ext cx="1554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</a:ln>
        </p:spPr>
        <p:txBody>
          <a:bodyPr rtlCol="0" anchor="ctr" wrap="square" lIns="91440" tIns="91440" rIns="91440" bIns="91440">
            <a:no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700" b="1" lang="fr-FR">
                <a:solidFill>
                  <a:srgbClr val="1D1D1F"/>
                </a:solidFill>
                <a:latin typeface="Instrument Sans"/>
              </a:rPr>
              <a:t>Navigateur</a:t>
            </a:r>
          </a:p>
          <a:p>
            <a:pPr algn="l">
              <a:spcAft>
                <a:spcPts val="0"/>
              </a:spcAft>
            </a:pPr>
            <a:r>
              <a:rPr sz="1200" b="0" lang="fr-FR">
                <a:solidFill>
                  <a:srgbClr val="6E6E73"/>
                </a:solidFill>
                <a:latin typeface="JetBrains Mono"/>
              </a:rPr>
              <a:t>mobile ou poste</a:t>
            </a:r>
          </a:p>
        </p:txBody>
      </p:sp>
      <p:sp>
        <p:nvSpPr>
          <p:cNvPr id="10" name="Index nœud 3"/>
          <p:cNvSpPr txBox="1"/>
          <p:nvPr/>
        </p:nvSpPr>
        <p:spPr>
          <a:xfrm>
            <a:off x="4363517" y="221284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03</a:t>
            </a:r>
          </a:p>
        </p:txBody>
      </p:sp>
      <p:sp>
        <p:nvSpPr>
          <p:cNvPr id="11" name="!!Node3"/>
          <p:cNvSpPr/>
          <p:nvPr/>
        </p:nvSpPr>
        <p:spPr>
          <a:xfrm>
            <a:off x="4363517" y="2560320"/>
            <a:ext cx="1554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</a:ln>
        </p:spPr>
        <p:txBody>
          <a:bodyPr rtlCol="0" anchor="ctr" wrap="square" lIns="91440" tIns="91440" rIns="91440" bIns="91440">
            <a:no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700" b="1" lang="fr-FR">
                <a:solidFill>
                  <a:srgbClr val="1D1D1F"/>
                </a:solidFill>
                <a:latin typeface="Instrument Sans"/>
              </a:rPr>
              <a:t>Application Next.js</a:t>
            </a:r>
          </a:p>
          <a:p>
            <a:pPr algn="l">
              <a:spcAft>
                <a:spcPts val="0"/>
              </a:spcAft>
            </a:pPr>
            <a:r>
              <a:rPr sz="1200" b="0" lang="fr-FR">
                <a:solidFill>
                  <a:srgbClr val="6E6E73"/>
                </a:solidFill>
                <a:latin typeface="JetBrains Mono"/>
              </a:rPr>
              <a:t>React 19</a:t>
            </a:r>
          </a:p>
        </p:txBody>
      </p:sp>
      <p:sp>
        <p:nvSpPr>
          <p:cNvPr id="12" name="Index nœud 4"/>
          <p:cNvSpPr txBox="1"/>
          <p:nvPr/>
        </p:nvSpPr>
        <p:spPr>
          <a:xfrm>
            <a:off x="6270955" y="221284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04</a:t>
            </a:r>
          </a:p>
        </p:txBody>
      </p:sp>
      <p:sp>
        <p:nvSpPr>
          <p:cNvPr id="13" name="!!Node4"/>
          <p:cNvSpPr/>
          <p:nvPr/>
        </p:nvSpPr>
        <p:spPr>
          <a:xfrm>
            <a:off x="6270955" y="2560320"/>
            <a:ext cx="1554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</a:ln>
        </p:spPr>
        <p:txBody>
          <a:bodyPr rtlCol="0" anchor="ctr" wrap="square" lIns="91440" tIns="91440" rIns="91440" bIns="91440">
            <a:no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700" b="1" lang="fr-FR">
                <a:solidFill>
                  <a:srgbClr val="1D1D1F"/>
                </a:solidFill>
                <a:latin typeface="Instrument Sans"/>
              </a:rPr>
              <a:t>Server Actions et routes API</a:t>
            </a:r>
          </a:p>
          <a:p>
            <a:pPr algn="l">
              <a:spcAft>
                <a:spcPts val="0"/>
              </a:spcAft>
            </a:pPr>
            <a:r>
              <a:rPr sz="1200" b="0" lang="fr-FR">
                <a:solidFill>
                  <a:srgbClr val="6E6E73"/>
                </a:solidFill>
                <a:latin typeface="JetBrains Mono"/>
              </a:rPr>
              <a:t>TypeScript</a:t>
            </a:r>
          </a:p>
        </p:txBody>
      </p:sp>
      <p:sp>
        <p:nvSpPr>
          <p:cNvPr id="14" name="Index nœud 5"/>
          <p:cNvSpPr txBox="1"/>
          <p:nvPr/>
        </p:nvSpPr>
        <p:spPr>
          <a:xfrm>
            <a:off x="8178394" y="221284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05</a:t>
            </a:r>
          </a:p>
        </p:txBody>
      </p:sp>
      <p:sp>
        <p:nvSpPr>
          <p:cNvPr id="15" name="!!Node5"/>
          <p:cNvSpPr/>
          <p:nvPr/>
        </p:nvSpPr>
        <p:spPr>
          <a:xfrm>
            <a:off x="8178394" y="2560320"/>
            <a:ext cx="1554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</a:ln>
        </p:spPr>
        <p:txBody>
          <a:bodyPr rtlCol="0" anchor="ctr" wrap="square" lIns="91440" tIns="91440" rIns="91440" bIns="91440">
            <a:no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700" b="1" lang="fr-FR">
                <a:solidFill>
                  <a:srgbClr val="1D1D1F"/>
                </a:solidFill>
                <a:latin typeface="Instrument Sans"/>
              </a:rPr>
              <a:t>Drizzle ORM</a:t>
            </a:r>
          </a:p>
          <a:p>
            <a:pPr algn="l">
              <a:spcAft>
                <a:spcPts val="0"/>
              </a:spcAft>
            </a:pPr>
            <a:r>
              <a:rPr sz="1200" b="0" lang="fr-FR">
                <a:solidFill>
                  <a:srgbClr val="6E6E73"/>
                </a:solidFill>
                <a:latin typeface="JetBrains Mono"/>
              </a:rPr>
              <a:t>requêtes typées</a:t>
            </a:r>
          </a:p>
        </p:txBody>
      </p:sp>
      <p:sp>
        <p:nvSpPr>
          <p:cNvPr id="16" name="Index nœud 6"/>
          <p:cNvSpPr txBox="1"/>
          <p:nvPr/>
        </p:nvSpPr>
        <p:spPr>
          <a:xfrm>
            <a:off x="10085832" y="221284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06</a:t>
            </a:r>
          </a:p>
        </p:txBody>
      </p:sp>
      <p:sp>
        <p:nvSpPr>
          <p:cNvPr id="17" name="!!DiagramFrame"/>
          <p:cNvSpPr/>
          <p:nvPr/>
        </p:nvSpPr>
        <p:spPr>
          <a:xfrm>
            <a:off x="10085832" y="2560320"/>
            <a:ext cx="1554480" cy="1600200"/>
          </a:xfrm>
          <a:prstGeom prst="rect">
            <a:avLst/>
          </a:prstGeom>
          <a:solidFill>
            <a:srgbClr val="1D1D1F"/>
          </a:solidFill>
          <a:ln w="12700">
            <a:solidFill>
              <a:srgbClr val="1D1D1F"/>
            </a:solidFill>
          </a:ln>
        </p:spPr>
        <p:txBody>
          <a:bodyPr rtlCol="0" anchor="ctr" wrap="square" lIns="91440" tIns="91440" rIns="91440" bIns="91440">
            <a:no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700" b="1" lang="fr-FR">
                <a:solidFill>
                  <a:srgbClr val="FFFFFF"/>
                </a:solidFill>
                <a:latin typeface="Instrument Sans"/>
              </a:rPr>
              <a:t>PostgreSQL</a:t>
            </a:r>
          </a:p>
          <a:p>
            <a:pPr algn="l">
              <a:spcAft>
                <a:spcPts val="0"/>
              </a:spcAft>
            </a:pPr>
            <a:r>
              <a:rPr sz="1200" b="0" lang="fr-FR">
                <a:solidFill>
                  <a:srgbClr val="AAAAAA"/>
                </a:solidFill>
                <a:latin typeface="JetBrains Mono"/>
              </a:rPr>
              <a:t>données</a:t>
            </a:r>
          </a:p>
        </p:txBody>
      </p:sp>
      <p:cxnSp>
        <p:nvCxnSpPr>
          <p:cNvPr id="18" name="!!LinkA"/>
          <p:cNvCxnSpPr>
            <a:stCxn id="7" idx="3"/>
            <a:endCxn id="9" idx="1"/>
          </p:cNvCxnSpPr>
          <p:nvPr/>
        </p:nvCxnSpPr>
        <p:spPr>
          <a:xfrm flipV="1">
            <a:off x="2103120" y="3360420"/>
            <a:ext cx="352958" cy="0"/>
          </a:xfrm>
          <a:prstGeom prst="line">
            <a:avLst/>
          </a:prstGeom>
          <a:ln w="19050">
            <a:solidFill>
              <a:srgbClr val="1D1D1F"/>
            </a:solidFill>
            <a:tailEnd type="triangle" w="med" len="med"/>
          </a:ln>
        </p:spPr>
      </p:cxnSp>
      <p:cxnSp>
        <p:nvCxnSpPr>
          <p:cNvPr id="19" name="!!LinkB"/>
          <p:cNvCxnSpPr>
            <a:stCxn id="9" idx="3"/>
            <a:endCxn id="11" idx="1"/>
          </p:cNvCxnSpPr>
          <p:nvPr/>
        </p:nvCxnSpPr>
        <p:spPr>
          <a:xfrm flipV="1">
            <a:off x="4010558" y="3360420"/>
            <a:ext cx="352959" cy="0"/>
          </a:xfrm>
          <a:prstGeom prst="line">
            <a:avLst/>
          </a:prstGeom>
          <a:ln w="19050">
            <a:solidFill>
              <a:srgbClr val="1D1D1F"/>
            </a:solidFill>
            <a:tailEnd type="triangle" w="med" len="med"/>
          </a:ln>
        </p:spPr>
      </p:cxnSp>
      <p:cxnSp>
        <p:nvCxnSpPr>
          <p:cNvPr id="20" name="!!LinkC"/>
          <p:cNvCxnSpPr>
            <a:stCxn id="11" idx="3"/>
            <a:endCxn id="13" idx="1"/>
          </p:cNvCxnSpPr>
          <p:nvPr/>
        </p:nvCxnSpPr>
        <p:spPr>
          <a:xfrm flipV="1">
            <a:off x="5917997" y="3360420"/>
            <a:ext cx="352958" cy="0"/>
          </a:xfrm>
          <a:prstGeom prst="line">
            <a:avLst/>
          </a:prstGeom>
          <a:ln w="19050">
            <a:solidFill>
              <a:srgbClr val="1D1D1F"/>
            </a:solidFill>
            <a:tailEnd type="triangle" w="med" len="med"/>
          </a:ln>
        </p:spPr>
      </p:cxnSp>
      <p:cxnSp>
        <p:nvCxnSpPr>
          <p:cNvPr id="21" name="!!LinkD"/>
          <p:cNvCxnSpPr>
            <a:stCxn id="13" idx="3"/>
            <a:endCxn id="15" idx="1"/>
          </p:cNvCxnSpPr>
          <p:nvPr/>
        </p:nvCxnSpPr>
        <p:spPr>
          <a:xfrm flipV="1">
            <a:off x="7825435" y="3360420"/>
            <a:ext cx="352959" cy="0"/>
          </a:xfrm>
          <a:prstGeom prst="line">
            <a:avLst/>
          </a:prstGeom>
          <a:ln w="19050">
            <a:solidFill>
              <a:srgbClr val="1D1D1F"/>
            </a:solidFill>
            <a:tailEnd type="triangle" w="med" len="med"/>
          </a:ln>
        </p:spPr>
      </p:cxnSp>
      <p:cxnSp>
        <p:nvCxnSpPr>
          <p:cNvPr id="22" name="!!LinkE"/>
          <p:cNvCxnSpPr>
            <a:stCxn id="15" idx="3"/>
            <a:endCxn id="17" idx="1"/>
          </p:cNvCxnSpPr>
          <p:nvPr/>
        </p:nvCxnSpPr>
        <p:spPr>
          <a:xfrm flipV="1">
            <a:off x="9732874" y="3360420"/>
            <a:ext cx="352958" cy="0"/>
          </a:xfrm>
          <a:prstGeom prst="line">
            <a:avLst/>
          </a:prstGeom>
          <a:ln w="19050">
            <a:solidFill>
              <a:srgbClr val="1D1D1F"/>
            </a:solidFill>
            <a:tailEnd type="triangle" w="med" len="med"/>
          </a:ln>
        </p:spPr>
      </p:cxnSp>
      <p:sp>
        <p:nvSpPr>
          <p:cNvPr id="23" name="!!CleoSignal"/>
          <p:cNvSpPr/>
          <p:nvPr/>
        </p:nvSpPr>
        <p:spPr>
          <a:xfrm>
            <a:off x="6270955" y="2468880"/>
            <a:ext cx="1554480" cy="91440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Brevo"/>
          <p:cNvSpPr/>
          <p:nvPr/>
        </p:nvSpPr>
        <p:spPr>
          <a:xfrm>
            <a:off x="5402275" y="5074920"/>
            <a:ext cx="3291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D1D1F"/>
            </a:solidFill>
            <a:prstDash val="dash"/>
          </a:ln>
        </p:spPr>
        <p:txBody>
          <a:bodyPr rtlCol="0" anchor="ctr" wrap="square" lIns="91440" tIns="91440" rIns="91440" bIns="91440">
            <a:noAutofit/>
          </a:bodyPr>
          <a:lstStyle/>
          <a:p>
            <a:pPr algn="ctr">
              <a:spcAft>
                <a:spcPts val="300"/>
              </a:spcAft>
            </a:pPr>
            <a:r>
              <a:rPr sz="1700" b="1" lang="fr-FR">
                <a:solidFill>
                  <a:srgbClr val="1D1D1F"/>
                </a:solidFill>
                <a:latin typeface="Instrument Sans"/>
              </a:rPr>
              <a:t>Brevo</a:t>
            </a:r>
          </a:p>
          <a:p>
            <a:pPr algn="ctr">
              <a:spcAft>
                <a:spcPts val="0"/>
              </a:spcAft>
            </a:pPr>
            <a:r>
              <a:rPr sz="1200" b="0" lang="fr-FR">
                <a:solidFill>
                  <a:srgbClr val="6E6E73"/>
                </a:solidFill>
                <a:latin typeface="JetBrains Mono"/>
              </a:rPr>
              <a:t>e-mails transactionnels · optionnel</a:t>
            </a:r>
          </a:p>
        </p:txBody>
      </p:sp>
      <p:cxnSp>
        <p:nvCxnSpPr>
          <p:cNvPr id="25" name="!!NarrativePath"/>
          <p:cNvCxnSpPr>
            <a:stCxn id="13" idx="2"/>
            <a:endCxn id="24" idx="0"/>
          </p:cNvCxnSpPr>
          <p:nvPr/>
        </p:nvCxnSpPr>
        <p:spPr>
          <a:xfrm>
            <a:off x="7048195" y="4160520"/>
            <a:ext cx="0" cy="914400"/>
          </a:xfrm>
          <a:prstGeom prst="line">
            <a:avLst/>
          </a:prstGeom>
          <a:ln w="19050">
            <a:solidFill>
              <a:srgbClr val="1D1D1F"/>
            </a:solidFill>
            <a:prstDash val="dash"/>
            <a:tailEnd type="triangle" w="med" len="med"/>
          </a:ln>
        </p:spPr>
      </p:cxnSp>
      <p:sp>
        <p:nvSpPr>
          <p:cNvPr id="26" name="Titre côté serveur"/>
          <p:cNvSpPr txBox="1"/>
          <p:nvPr/>
        </p:nvSpPr>
        <p:spPr>
          <a:xfrm>
            <a:off x="548640" y="459943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CÔTÉ SERVEUR</a:t>
            </a:r>
          </a:p>
        </p:txBody>
      </p:sp>
      <p:sp>
        <p:nvSpPr>
          <p:cNvPr id="27" name="!!ReqSecurite"/>
          <p:cNvSpPr txBox="1"/>
          <p:nvPr/>
        </p:nvSpPr>
        <p:spPr>
          <a:xfrm>
            <a:off x="548640" y="49834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1" lang="fr-FR">
                <a:solidFill>
                  <a:srgbClr val="1D1D1F"/>
                </a:solidFill>
                <a:latin typeface="Instrument Sans"/>
              </a:rPr>
              <a:t>Sécurité</a:t>
            </a:r>
            <a:r>
              <a:rPr sz="1700" b="0" lang="fr-FR">
                <a:solidFill>
                  <a:srgbClr val="6E6E73"/>
                </a:solidFill>
                <a:latin typeface="Instrument Sans"/>
              </a:rPr>
              <a:t>  ·  rôles vérifiés</a:t>
            </a:r>
          </a:p>
        </p:txBody>
      </p:sp>
      <p:sp>
        <p:nvSpPr>
          <p:cNvPr id="28" name="!!ReqValidation"/>
          <p:cNvSpPr txBox="1"/>
          <p:nvPr/>
        </p:nvSpPr>
        <p:spPr>
          <a:xfrm>
            <a:off x="548640" y="5394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1" lang="fr-FR">
                <a:solidFill>
                  <a:srgbClr val="1D1D1F"/>
                </a:solidFill>
                <a:latin typeface="Instrument Sans"/>
              </a:rPr>
              <a:t>Validation</a:t>
            </a:r>
            <a:r>
              <a:rPr sz="1700" b="0" lang="fr-FR">
                <a:solidFill>
                  <a:srgbClr val="6E6E73"/>
                </a:solidFill>
                <a:latin typeface="Instrument Sans"/>
              </a:rPr>
              <a:t>  ·  entrées contrôlées</a:t>
            </a:r>
          </a:p>
        </p:txBody>
      </p:sp>
      <p:sp>
        <p:nvSpPr>
          <p:cNvPr id="29" name="!!ReqResilience"/>
          <p:cNvSpPr txBox="1"/>
          <p:nvPr/>
        </p:nvSpPr>
        <p:spPr>
          <a:xfrm>
            <a:off x="548640" y="58064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1" lang="fr-FR">
                <a:solidFill>
                  <a:srgbClr val="1D1D1F"/>
                </a:solidFill>
                <a:latin typeface="Instrument Sans"/>
              </a:rPr>
              <a:t>Résilience</a:t>
            </a:r>
            <a:r>
              <a:rPr sz="1700" b="0" lang="fr-FR">
                <a:solidFill>
                  <a:srgbClr val="6E6E73"/>
                </a:solidFill>
                <a:latin typeface="Instrument Sans"/>
              </a:rPr>
              <a:t>  ·  limitation de débit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rojectLabel"/>
          <p:cNvSpPr txBox="1"/>
          <p:nvPr/>
        </p:nvSpPr>
        <p:spPr>
          <a:xfrm>
            <a:off x="548640" y="31089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lang="fr-FR" spc="150">
                <a:solidFill>
                  <a:srgbClr val="1D1D1F"/>
                </a:solidFill>
                <a:latin typeface="Anton"/>
              </a:rPr>
              <a:t>CLÉOPÂTRE</a:t>
            </a:r>
          </a:p>
        </p:txBody>
      </p:sp>
      <p:sp>
        <p:nvSpPr>
          <p:cNvPr id="3" name="!!ChapterIndex"/>
          <p:cNvSpPr txBox="1"/>
          <p:nvPr/>
        </p:nvSpPr>
        <p:spPr>
          <a:xfrm>
            <a:off x="5239512" y="36576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11 / 20   ·   CONCEPTION · DIAGRAMME 01</a:t>
            </a:r>
          </a:p>
        </p:txBody>
      </p:sp>
      <p:sp>
        <p:nvSpPr>
          <p:cNvPr id="4" name="!!MorphHeadline"/>
          <p:cNvSpPr txBox="1"/>
          <p:nvPr/>
        </p:nvSpPr>
        <p:spPr>
          <a:xfrm>
            <a:off x="548640" y="768096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800" b="1" lang="fr-FR">
                <a:solidFill>
                  <a:srgbClr val="1D1D1F"/>
                </a:solidFill>
                <a:latin typeface="Instrument Sans"/>
              </a:rPr>
              <a:t>Diagramme 01 — À insérer</a:t>
            </a:r>
          </a:p>
        </p:txBody>
      </p:sp>
      <p:sp>
        <p:nvSpPr>
          <p:cNvPr id="5" name="!!DiagramFrame"/>
          <p:cNvSpPr/>
          <p:nvPr/>
        </p:nvSpPr>
        <p:spPr>
          <a:xfrm>
            <a:off x="548640" y="1481328"/>
            <a:ext cx="11091672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!!NarrativePath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9050">
            <a:solidFill>
              <a:srgbClr val="1D1D1F"/>
            </a:solidFill>
          </a:ln>
        </p:spPr>
      </p:cxnSp>
      <p:sp>
        <p:nvSpPr>
          <p:cNvPr id="7" name="!!CornerTL"/>
          <p:cNvSpPr/>
          <p:nvPr/>
        </p:nvSpPr>
        <p:spPr>
          <a:xfrm>
            <a:off x="475488" y="1408176"/>
            <a:ext cx="146304" cy="146304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CornerTR"/>
          <p:cNvSpPr/>
          <p:nvPr/>
        </p:nvSpPr>
        <p:spPr>
          <a:xfrm>
            <a:off x="11567160" y="1408176"/>
            <a:ext cx="146304" cy="146304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!!CornerBL"/>
          <p:cNvSpPr/>
          <p:nvPr/>
        </p:nvSpPr>
        <p:spPr>
          <a:xfrm>
            <a:off x="475488" y="6190488"/>
            <a:ext cx="146304" cy="146304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!!CornerBR"/>
          <p:cNvSpPr/>
          <p:nvPr/>
        </p:nvSpPr>
        <p:spPr>
          <a:xfrm>
            <a:off x="11567160" y="6190488"/>
            <a:ext cx="146304" cy="146304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!!Node1"/>
          <p:cNvSpPr/>
          <p:nvPr/>
        </p:nvSpPr>
        <p:spPr>
          <a:xfrm>
            <a:off x="6309360" y="9601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!!Node2"/>
          <p:cNvSpPr/>
          <p:nvPr/>
        </p:nvSpPr>
        <p:spPr>
          <a:xfrm>
            <a:off x="7223760" y="9601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Node3"/>
          <p:cNvSpPr/>
          <p:nvPr/>
        </p:nvSpPr>
        <p:spPr>
          <a:xfrm>
            <a:off x="8138160" y="9601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!!Node4"/>
          <p:cNvSpPr/>
          <p:nvPr/>
        </p:nvSpPr>
        <p:spPr>
          <a:xfrm>
            <a:off x="9052560" y="9601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Node5"/>
          <p:cNvSpPr/>
          <p:nvPr/>
        </p:nvSpPr>
        <p:spPr>
          <a:xfrm>
            <a:off x="9966960" y="9601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6" name="!!LinkA"/>
          <p:cNvCxnSpPr>
            <a:stCxn id="11" idx="3"/>
            <a:endCxn id="12" idx="1"/>
          </p:cNvCxnSpPr>
          <p:nvPr/>
        </p:nvCxnSpPr>
        <p:spPr>
          <a:xfrm flipV="1">
            <a:off x="6492240" y="1051560"/>
            <a:ext cx="731520" cy="0"/>
          </a:xfrm>
          <a:prstGeom prst="line">
            <a:avLst/>
          </a:prstGeom>
          <a:ln w="12700">
            <a:solidFill>
              <a:srgbClr val="1D1D1F"/>
            </a:solidFill>
          </a:ln>
        </p:spPr>
      </p:cxnSp>
      <p:cxnSp>
        <p:nvCxnSpPr>
          <p:cNvPr id="17" name="!!LinkB"/>
          <p:cNvCxnSpPr>
            <a:stCxn id="12" idx="3"/>
            <a:endCxn id="13" idx="1"/>
          </p:cNvCxnSpPr>
          <p:nvPr/>
        </p:nvCxnSpPr>
        <p:spPr>
          <a:xfrm flipV="1">
            <a:off x="7406640" y="1051560"/>
            <a:ext cx="731520" cy="0"/>
          </a:xfrm>
          <a:prstGeom prst="line">
            <a:avLst/>
          </a:prstGeom>
          <a:ln w="12700">
            <a:solidFill>
              <a:srgbClr val="1D1D1F"/>
            </a:solidFill>
          </a:ln>
        </p:spPr>
      </p:cxnSp>
      <p:cxnSp>
        <p:nvCxnSpPr>
          <p:cNvPr id="18" name="!!LinkC"/>
          <p:cNvCxnSpPr>
            <a:stCxn id="13" idx="3"/>
            <a:endCxn id="14" idx="1"/>
          </p:cNvCxnSpPr>
          <p:nvPr/>
        </p:nvCxnSpPr>
        <p:spPr>
          <a:xfrm flipV="1">
            <a:off x="8321040" y="1051560"/>
            <a:ext cx="731520" cy="0"/>
          </a:xfrm>
          <a:prstGeom prst="line">
            <a:avLst/>
          </a:prstGeom>
          <a:ln w="12700">
            <a:solidFill>
              <a:srgbClr val="1D1D1F"/>
            </a:solidFill>
          </a:ln>
        </p:spPr>
      </p:cxnSp>
      <p:cxnSp>
        <p:nvCxnSpPr>
          <p:cNvPr id="19" name="!!LinkD"/>
          <p:cNvCxnSpPr>
            <a:stCxn id="14" idx="3"/>
            <a:endCxn id="15" idx="1"/>
          </p:cNvCxnSpPr>
          <p:nvPr/>
        </p:nvCxnSpPr>
        <p:spPr>
          <a:xfrm flipV="1">
            <a:off x="9235440" y="1051560"/>
            <a:ext cx="731520" cy="0"/>
          </a:xfrm>
          <a:prstGeom prst="line">
            <a:avLst/>
          </a:prstGeom>
          <a:ln w="12700">
            <a:solidFill>
              <a:srgbClr val="1D1D1F"/>
            </a:solidFill>
          </a:ln>
        </p:spPr>
      </p:cxnSp>
      <p:sp>
        <p:nvSpPr>
          <p:cNvPr id="20" name="!!CleoSignal"/>
          <p:cNvSpPr/>
          <p:nvPr/>
        </p:nvSpPr>
        <p:spPr>
          <a:xfrm>
            <a:off x="6309360" y="960120"/>
            <a:ext cx="182880" cy="182880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père À insérer"/>
          <p:cNvSpPr/>
          <p:nvPr/>
        </p:nvSpPr>
        <p:spPr>
          <a:xfrm>
            <a:off x="10451592" y="914400"/>
            <a:ext cx="1188720" cy="274320"/>
          </a:xfrm>
          <a:prstGeom prst="rect">
            <a:avLst/>
          </a:prstGeom>
          <a:noFill/>
          <a:ln w="9525">
            <a:solidFill>
              <a:srgbClr val="AAAAAA"/>
            </a:solidFill>
          </a:ln>
        </p:spPr>
        <p:txBody>
          <a:bodyPr rtlCol="0" anchor="ctr" wrap="square" lIns="36576" tIns="36576" r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À INSÉRER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rojectLabel"/>
          <p:cNvSpPr txBox="1"/>
          <p:nvPr/>
        </p:nvSpPr>
        <p:spPr>
          <a:xfrm>
            <a:off x="548640" y="31089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lang="fr-FR" spc="150">
                <a:solidFill>
                  <a:srgbClr val="1D1D1F"/>
                </a:solidFill>
                <a:latin typeface="Anton"/>
              </a:rPr>
              <a:t>CLÉOPÂTRE</a:t>
            </a:r>
          </a:p>
        </p:txBody>
      </p:sp>
      <p:sp>
        <p:nvSpPr>
          <p:cNvPr id="3" name="!!ChapterIndex"/>
          <p:cNvSpPr txBox="1"/>
          <p:nvPr/>
        </p:nvSpPr>
        <p:spPr>
          <a:xfrm>
            <a:off x="5239512" y="36576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12 / 20   ·   CONCEPTION · DIAGRAMME 02</a:t>
            </a:r>
          </a:p>
        </p:txBody>
      </p:sp>
      <p:sp>
        <p:nvSpPr>
          <p:cNvPr id="4" name="!!MorphHeadline"/>
          <p:cNvSpPr txBox="1"/>
          <p:nvPr/>
        </p:nvSpPr>
        <p:spPr>
          <a:xfrm>
            <a:off x="548640" y="768096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800" b="1" lang="fr-FR">
                <a:solidFill>
                  <a:srgbClr val="1D1D1F"/>
                </a:solidFill>
                <a:latin typeface="Instrument Sans"/>
              </a:rPr>
              <a:t>Diagramme 02 — À insérer</a:t>
            </a:r>
          </a:p>
        </p:txBody>
      </p:sp>
      <p:sp>
        <p:nvSpPr>
          <p:cNvPr id="5" name="!!DiagramFrame"/>
          <p:cNvSpPr/>
          <p:nvPr/>
        </p:nvSpPr>
        <p:spPr>
          <a:xfrm>
            <a:off x="548640" y="1481328"/>
            <a:ext cx="11091672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!!NarrativePath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9050">
            <a:solidFill>
              <a:srgbClr val="1D1D1F"/>
            </a:solidFill>
          </a:ln>
        </p:spPr>
      </p:cxnSp>
      <p:sp>
        <p:nvSpPr>
          <p:cNvPr id="7" name="!!CornerTL"/>
          <p:cNvSpPr/>
          <p:nvPr/>
        </p:nvSpPr>
        <p:spPr>
          <a:xfrm>
            <a:off x="475488" y="1408176"/>
            <a:ext cx="146304" cy="146304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CornerTR"/>
          <p:cNvSpPr/>
          <p:nvPr/>
        </p:nvSpPr>
        <p:spPr>
          <a:xfrm>
            <a:off x="11567160" y="1408176"/>
            <a:ext cx="146304" cy="146304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!!CornerBL"/>
          <p:cNvSpPr/>
          <p:nvPr/>
        </p:nvSpPr>
        <p:spPr>
          <a:xfrm>
            <a:off x="475488" y="6190488"/>
            <a:ext cx="146304" cy="146304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!!CornerBR"/>
          <p:cNvSpPr/>
          <p:nvPr/>
        </p:nvSpPr>
        <p:spPr>
          <a:xfrm>
            <a:off x="11567160" y="6190488"/>
            <a:ext cx="146304" cy="146304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!!Node1"/>
          <p:cNvSpPr/>
          <p:nvPr/>
        </p:nvSpPr>
        <p:spPr>
          <a:xfrm>
            <a:off x="6309360" y="9601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!!Node2"/>
          <p:cNvSpPr/>
          <p:nvPr/>
        </p:nvSpPr>
        <p:spPr>
          <a:xfrm>
            <a:off x="7223760" y="9601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Node3"/>
          <p:cNvSpPr/>
          <p:nvPr/>
        </p:nvSpPr>
        <p:spPr>
          <a:xfrm>
            <a:off x="8138160" y="9601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!!Node4"/>
          <p:cNvSpPr/>
          <p:nvPr/>
        </p:nvSpPr>
        <p:spPr>
          <a:xfrm>
            <a:off x="9052560" y="9601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Node5"/>
          <p:cNvSpPr/>
          <p:nvPr/>
        </p:nvSpPr>
        <p:spPr>
          <a:xfrm>
            <a:off x="9966960" y="9601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6" name="!!LinkA"/>
          <p:cNvCxnSpPr>
            <a:stCxn id="11" idx="3"/>
            <a:endCxn id="12" idx="1"/>
          </p:cNvCxnSpPr>
          <p:nvPr/>
        </p:nvCxnSpPr>
        <p:spPr>
          <a:xfrm flipV="1">
            <a:off x="6492240" y="1051560"/>
            <a:ext cx="731520" cy="0"/>
          </a:xfrm>
          <a:prstGeom prst="line">
            <a:avLst/>
          </a:prstGeom>
          <a:ln w="12700">
            <a:solidFill>
              <a:srgbClr val="1D1D1F"/>
            </a:solidFill>
          </a:ln>
        </p:spPr>
      </p:cxnSp>
      <p:cxnSp>
        <p:nvCxnSpPr>
          <p:cNvPr id="17" name="!!LinkB"/>
          <p:cNvCxnSpPr>
            <a:stCxn id="12" idx="3"/>
            <a:endCxn id="13" idx="1"/>
          </p:cNvCxnSpPr>
          <p:nvPr/>
        </p:nvCxnSpPr>
        <p:spPr>
          <a:xfrm flipV="1">
            <a:off x="7406640" y="1051560"/>
            <a:ext cx="731520" cy="0"/>
          </a:xfrm>
          <a:prstGeom prst="line">
            <a:avLst/>
          </a:prstGeom>
          <a:ln w="12700">
            <a:solidFill>
              <a:srgbClr val="1D1D1F"/>
            </a:solidFill>
          </a:ln>
        </p:spPr>
      </p:cxnSp>
      <p:cxnSp>
        <p:nvCxnSpPr>
          <p:cNvPr id="18" name="!!LinkC"/>
          <p:cNvCxnSpPr>
            <a:stCxn id="13" idx="3"/>
            <a:endCxn id="14" idx="1"/>
          </p:cNvCxnSpPr>
          <p:nvPr/>
        </p:nvCxnSpPr>
        <p:spPr>
          <a:xfrm flipV="1">
            <a:off x="8321040" y="1051560"/>
            <a:ext cx="731520" cy="0"/>
          </a:xfrm>
          <a:prstGeom prst="line">
            <a:avLst/>
          </a:prstGeom>
          <a:ln w="12700">
            <a:solidFill>
              <a:srgbClr val="1D1D1F"/>
            </a:solidFill>
          </a:ln>
        </p:spPr>
      </p:cxnSp>
      <p:cxnSp>
        <p:nvCxnSpPr>
          <p:cNvPr id="19" name="!!LinkD"/>
          <p:cNvCxnSpPr>
            <a:stCxn id="14" idx="3"/>
            <a:endCxn id="15" idx="1"/>
          </p:cNvCxnSpPr>
          <p:nvPr/>
        </p:nvCxnSpPr>
        <p:spPr>
          <a:xfrm flipV="1">
            <a:off x="9235440" y="1051560"/>
            <a:ext cx="731520" cy="0"/>
          </a:xfrm>
          <a:prstGeom prst="line">
            <a:avLst/>
          </a:prstGeom>
          <a:ln w="12700">
            <a:solidFill>
              <a:srgbClr val="1D1D1F"/>
            </a:solidFill>
          </a:ln>
        </p:spPr>
      </p:cxnSp>
      <p:sp>
        <p:nvSpPr>
          <p:cNvPr id="20" name="!!CleoSignal"/>
          <p:cNvSpPr/>
          <p:nvPr/>
        </p:nvSpPr>
        <p:spPr>
          <a:xfrm>
            <a:off x="7223760" y="960120"/>
            <a:ext cx="182880" cy="182880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père À insérer"/>
          <p:cNvSpPr/>
          <p:nvPr/>
        </p:nvSpPr>
        <p:spPr>
          <a:xfrm>
            <a:off x="10451592" y="914400"/>
            <a:ext cx="1188720" cy="274320"/>
          </a:xfrm>
          <a:prstGeom prst="rect">
            <a:avLst/>
          </a:prstGeom>
          <a:noFill/>
          <a:ln w="9525">
            <a:solidFill>
              <a:srgbClr val="AAAAAA"/>
            </a:solidFill>
          </a:ln>
        </p:spPr>
        <p:txBody>
          <a:bodyPr rtlCol="0" anchor="ctr" wrap="square" lIns="36576" tIns="36576" r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À INSÉRER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rojectLabel"/>
          <p:cNvSpPr txBox="1"/>
          <p:nvPr/>
        </p:nvSpPr>
        <p:spPr>
          <a:xfrm>
            <a:off x="548640" y="31089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lang="fr-FR" spc="150">
                <a:solidFill>
                  <a:srgbClr val="1D1D1F"/>
                </a:solidFill>
                <a:latin typeface="Anton"/>
              </a:rPr>
              <a:t>CLÉOPÂTRE</a:t>
            </a:r>
          </a:p>
        </p:txBody>
      </p:sp>
      <p:sp>
        <p:nvSpPr>
          <p:cNvPr id="3" name="!!ChapterIndex"/>
          <p:cNvSpPr txBox="1"/>
          <p:nvPr/>
        </p:nvSpPr>
        <p:spPr>
          <a:xfrm>
            <a:off x="5239512" y="36576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13 / 20   ·   CONCEPTION · DIAGRAMME 03</a:t>
            </a:r>
          </a:p>
        </p:txBody>
      </p:sp>
      <p:sp>
        <p:nvSpPr>
          <p:cNvPr id="4" name="!!MorphHeadline"/>
          <p:cNvSpPr txBox="1"/>
          <p:nvPr/>
        </p:nvSpPr>
        <p:spPr>
          <a:xfrm>
            <a:off x="548640" y="768096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800" b="1" lang="fr-FR">
                <a:solidFill>
                  <a:srgbClr val="1D1D1F"/>
                </a:solidFill>
                <a:latin typeface="Instrument Sans"/>
              </a:rPr>
              <a:t>Diagramme 03 — À insérer</a:t>
            </a:r>
          </a:p>
        </p:txBody>
      </p:sp>
      <p:sp>
        <p:nvSpPr>
          <p:cNvPr id="5" name="!!DiagramFrame"/>
          <p:cNvSpPr/>
          <p:nvPr/>
        </p:nvSpPr>
        <p:spPr>
          <a:xfrm>
            <a:off x="548640" y="1481328"/>
            <a:ext cx="11091672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!!NarrativePath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9050">
            <a:solidFill>
              <a:srgbClr val="1D1D1F"/>
            </a:solidFill>
          </a:ln>
        </p:spPr>
      </p:cxnSp>
      <p:sp>
        <p:nvSpPr>
          <p:cNvPr id="7" name="!!CornerTL"/>
          <p:cNvSpPr/>
          <p:nvPr/>
        </p:nvSpPr>
        <p:spPr>
          <a:xfrm>
            <a:off x="475488" y="1408176"/>
            <a:ext cx="146304" cy="146304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CornerTR"/>
          <p:cNvSpPr/>
          <p:nvPr/>
        </p:nvSpPr>
        <p:spPr>
          <a:xfrm>
            <a:off x="11567160" y="1408176"/>
            <a:ext cx="146304" cy="146304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!!CornerBL"/>
          <p:cNvSpPr/>
          <p:nvPr/>
        </p:nvSpPr>
        <p:spPr>
          <a:xfrm>
            <a:off x="475488" y="6190488"/>
            <a:ext cx="146304" cy="146304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!!CornerBR"/>
          <p:cNvSpPr/>
          <p:nvPr/>
        </p:nvSpPr>
        <p:spPr>
          <a:xfrm>
            <a:off x="11567160" y="6190488"/>
            <a:ext cx="146304" cy="146304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!!Node1"/>
          <p:cNvSpPr/>
          <p:nvPr/>
        </p:nvSpPr>
        <p:spPr>
          <a:xfrm>
            <a:off x="6309360" y="9601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!!Node2"/>
          <p:cNvSpPr/>
          <p:nvPr/>
        </p:nvSpPr>
        <p:spPr>
          <a:xfrm>
            <a:off x="7223760" y="9601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Node3"/>
          <p:cNvSpPr/>
          <p:nvPr/>
        </p:nvSpPr>
        <p:spPr>
          <a:xfrm>
            <a:off x="8138160" y="9601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!!Node4"/>
          <p:cNvSpPr/>
          <p:nvPr/>
        </p:nvSpPr>
        <p:spPr>
          <a:xfrm>
            <a:off x="9052560" y="9601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Node5"/>
          <p:cNvSpPr/>
          <p:nvPr/>
        </p:nvSpPr>
        <p:spPr>
          <a:xfrm>
            <a:off x="9966960" y="9601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6" name="!!LinkA"/>
          <p:cNvCxnSpPr>
            <a:stCxn id="11" idx="3"/>
            <a:endCxn id="12" idx="1"/>
          </p:cNvCxnSpPr>
          <p:nvPr/>
        </p:nvCxnSpPr>
        <p:spPr>
          <a:xfrm flipV="1">
            <a:off x="6492240" y="1051560"/>
            <a:ext cx="731520" cy="0"/>
          </a:xfrm>
          <a:prstGeom prst="line">
            <a:avLst/>
          </a:prstGeom>
          <a:ln w="12700">
            <a:solidFill>
              <a:srgbClr val="1D1D1F"/>
            </a:solidFill>
          </a:ln>
        </p:spPr>
      </p:cxnSp>
      <p:cxnSp>
        <p:nvCxnSpPr>
          <p:cNvPr id="17" name="!!LinkB"/>
          <p:cNvCxnSpPr>
            <a:stCxn id="12" idx="3"/>
            <a:endCxn id="13" idx="1"/>
          </p:cNvCxnSpPr>
          <p:nvPr/>
        </p:nvCxnSpPr>
        <p:spPr>
          <a:xfrm flipV="1">
            <a:off x="7406640" y="1051560"/>
            <a:ext cx="731520" cy="0"/>
          </a:xfrm>
          <a:prstGeom prst="line">
            <a:avLst/>
          </a:prstGeom>
          <a:ln w="12700">
            <a:solidFill>
              <a:srgbClr val="1D1D1F"/>
            </a:solidFill>
          </a:ln>
        </p:spPr>
      </p:cxnSp>
      <p:cxnSp>
        <p:nvCxnSpPr>
          <p:cNvPr id="18" name="!!LinkC"/>
          <p:cNvCxnSpPr>
            <a:stCxn id="13" idx="3"/>
            <a:endCxn id="14" idx="1"/>
          </p:cNvCxnSpPr>
          <p:nvPr/>
        </p:nvCxnSpPr>
        <p:spPr>
          <a:xfrm flipV="1">
            <a:off x="8321040" y="1051560"/>
            <a:ext cx="731520" cy="0"/>
          </a:xfrm>
          <a:prstGeom prst="line">
            <a:avLst/>
          </a:prstGeom>
          <a:ln w="12700">
            <a:solidFill>
              <a:srgbClr val="1D1D1F"/>
            </a:solidFill>
          </a:ln>
        </p:spPr>
      </p:cxnSp>
      <p:cxnSp>
        <p:nvCxnSpPr>
          <p:cNvPr id="19" name="!!LinkD"/>
          <p:cNvCxnSpPr>
            <a:stCxn id="14" idx="3"/>
            <a:endCxn id="15" idx="1"/>
          </p:cNvCxnSpPr>
          <p:nvPr/>
        </p:nvCxnSpPr>
        <p:spPr>
          <a:xfrm flipV="1">
            <a:off x="9235440" y="1051560"/>
            <a:ext cx="731520" cy="0"/>
          </a:xfrm>
          <a:prstGeom prst="line">
            <a:avLst/>
          </a:prstGeom>
          <a:ln w="12700">
            <a:solidFill>
              <a:srgbClr val="1D1D1F"/>
            </a:solidFill>
          </a:ln>
        </p:spPr>
      </p:cxnSp>
      <p:sp>
        <p:nvSpPr>
          <p:cNvPr id="20" name="!!CleoSignal"/>
          <p:cNvSpPr/>
          <p:nvPr/>
        </p:nvSpPr>
        <p:spPr>
          <a:xfrm>
            <a:off x="8138160" y="960120"/>
            <a:ext cx="182880" cy="182880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père À insérer"/>
          <p:cNvSpPr/>
          <p:nvPr/>
        </p:nvSpPr>
        <p:spPr>
          <a:xfrm>
            <a:off x="10451592" y="914400"/>
            <a:ext cx="1188720" cy="274320"/>
          </a:xfrm>
          <a:prstGeom prst="rect">
            <a:avLst/>
          </a:prstGeom>
          <a:noFill/>
          <a:ln w="9525">
            <a:solidFill>
              <a:srgbClr val="AAAAAA"/>
            </a:solidFill>
          </a:ln>
        </p:spPr>
        <p:txBody>
          <a:bodyPr rtlCol="0" anchor="ctr" wrap="square" lIns="36576" tIns="36576" r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À INSÉRER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rojectLabel"/>
          <p:cNvSpPr txBox="1"/>
          <p:nvPr/>
        </p:nvSpPr>
        <p:spPr>
          <a:xfrm>
            <a:off x="548640" y="31089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lang="fr-FR" spc="150">
                <a:solidFill>
                  <a:srgbClr val="1D1D1F"/>
                </a:solidFill>
                <a:latin typeface="Anton"/>
              </a:rPr>
              <a:t>CLÉOPÂTRE</a:t>
            </a:r>
          </a:p>
        </p:txBody>
      </p:sp>
      <p:sp>
        <p:nvSpPr>
          <p:cNvPr id="3" name="!!ChapterIndex"/>
          <p:cNvSpPr txBox="1"/>
          <p:nvPr/>
        </p:nvSpPr>
        <p:spPr>
          <a:xfrm>
            <a:off x="5239512" y="36576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14 / 20   ·   CONCEPTION · DIAGRAMME 04</a:t>
            </a:r>
          </a:p>
        </p:txBody>
      </p:sp>
      <p:sp>
        <p:nvSpPr>
          <p:cNvPr id="4" name="!!MorphHeadline"/>
          <p:cNvSpPr txBox="1"/>
          <p:nvPr/>
        </p:nvSpPr>
        <p:spPr>
          <a:xfrm>
            <a:off x="548640" y="768096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800" b="1" lang="fr-FR">
                <a:solidFill>
                  <a:srgbClr val="1D1D1F"/>
                </a:solidFill>
                <a:latin typeface="Instrument Sans"/>
              </a:rPr>
              <a:t>Diagramme 04 — À insérer</a:t>
            </a:r>
          </a:p>
        </p:txBody>
      </p:sp>
      <p:sp>
        <p:nvSpPr>
          <p:cNvPr id="5" name="!!DiagramFrame"/>
          <p:cNvSpPr/>
          <p:nvPr/>
        </p:nvSpPr>
        <p:spPr>
          <a:xfrm>
            <a:off x="548640" y="1481328"/>
            <a:ext cx="11091672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!!NarrativePath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9050">
            <a:solidFill>
              <a:srgbClr val="1D1D1F"/>
            </a:solidFill>
          </a:ln>
        </p:spPr>
      </p:cxnSp>
      <p:sp>
        <p:nvSpPr>
          <p:cNvPr id="7" name="!!CornerTL"/>
          <p:cNvSpPr/>
          <p:nvPr/>
        </p:nvSpPr>
        <p:spPr>
          <a:xfrm>
            <a:off x="475488" y="1408176"/>
            <a:ext cx="146304" cy="146304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CornerTR"/>
          <p:cNvSpPr/>
          <p:nvPr/>
        </p:nvSpPr>
        <p:spPr>
          <a:xfrm>
            <a:off x="11567160" y="1408176"/>
            <a:ext cx="146304" cy="146304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!!CornerBL"/>
          <p:cNvSpPr/>
          <p:nvPr/>
        </p:nvSpPr>
        <p:spPr>
          <a:xfrm>
            <a:off x="475488" y="6190488"/>
            <a:ext cx="146304" cy="146304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!!CornerBR"/>
          <p:cNvSpPr/>
          <p:nvPr/>
        </p:nvSpPr>
        <p:spPr>
          <a:xfrm>
            <a:off x="11567160" y="6190488"/>
            <a:ext cx="146304" cy="146304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!!Node1"/>
          <p:cNvSpPr/>
          <p:nvPr/>
        </p:nvSpPr>
        <p:spPr>
          <a:xfrm>
            <a:off x="6309360" y="9601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!!Node2"/>
          <p:cNvSpPr/>
          <p:nvPr/>
        </p:nvSpPr>
        <p:spPr>
          <a:xfrm>
            <a:off x="7223760" y="9601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Node3"/>
          <p:cNvSpPr/>
          <p:nvPr/>
        </p:nvSpPr>
        <p:spPr>
          <a:xfrm>
            <a:off x="8138160" y="9601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!!Node4"/>
          <p:cNvSpPr/>
          <p:nvPr/>
        </p:nvSpPr>
        <p:spPr>
          <a:xfrm>
            <a:off x="9052560" y="9601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Node5"/>
          <p:cNvSpPr/>
          <p:nvPr/>
        </p:nvSpPr>
        <p:spPr>
          <a:xfrm>
            <a:off x="9966960" y="9601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6" name="!!LinkA"/>
          <p:cNvCxnSpPr>
            <a:stCxn id="11" idx="3"/>
            <a:endCxn id="12" idx="1"/>
          </p:cNvCxnSpPr>
          <p:nvPr/>
        </p:nvCxnSpPr>
        <p:spPr>
          <a:xfrm flipV="1">
            <a:off x="6492240" y="1051560"/>
            <a:ext cx="731520" cy="0"/>
          </a:xfrm>
          <a:prstGeom prst="line">
            <a:avLst/>
          </a:prstGeom>
          <a:ln w="12700">
            <a:solidFill>
              <a:srgbClr val="1D1D1F"/>
            </a:solidFill>
          </a:ln>
        </p:spPr>
      </p:cxnSp>
      <p:cxnSp>
        <p:nvCxnSpPr>
          <p:cNvPr id="17" name="!!LinkB"/>
          <p:cNvCxnSpPr>
            <a:stCxn id="12" idx="3"/>
            <a:endCxn id="13" idx="1"/>
          </p:cNvCxnSpPr>
          <p:nvPr/>
        </p:nvCxnSpPr>
        <p:spPr>
          <a:xfrm flipV="1">
            <a:off x="7406640" y="1051560"/>
            <a:ext cx="731520" cy="0"/>
          </a:xfrm>
          <a:prstGeom prst="line">
            <a:avLst/>
          </a:prstGeom>
          <a:ln w="12700">
            <a:solidFill>
              <a:srgbClr val="1D1D1F"/>
            </a:solidFill>
          </a:ln>
        </p:spPr>
      </p:cxnSp>
      <p:cxnSp>
        <p:nvCxnSpPr>
          <p:cNvPr id="18" name="!!LinkC"/>
          <p:cNvCxnSpPr>
            <a:stCxn id="13" idx="3"/>
            <a:endCxn id="14" idx="1"/>
          </p:cNvCxnSpPr>
          <p:nvPr/>
        </p:nvCxnSpPr>
        <p:spPr>
          <a:xfrm flipV="1">
            <a:off x="8321040" y="1051560"/>
            <a:ext cx="731520" cy="0"/>
          </a:xfrm>
          <a:prstGeom prst="line">
            <a:avLst/>
          </a:prstGeom>
          <a:ln w="12700">
            <a:solidFill>
              <a:srgbClr val="1D1D1F"/>
            </a:solidFill>
          </a:ln>
        </p:spPr>
      </p:cxnSp>
      <p:cxnSp>
        <p:nvCxnSpPr>
          <p:cNvPr id="19" name="!!LinkD"/>
          <p:cNvCxnSpPr>
            <a:stCxn id="14" idx="3"/>
            <a:endCxn id="15" idx="1"/>
          </p:cNvCxnSpPr>
          <p:nvPr/>
        </p:nvCxnSpPr>
        <p:spPr>
          <a:xfrm flipV="1">
            <a:off x="9235440" y="1051560"/>
            <a:ext cx="731520" cy="0"/>
          </a:xfrm>
          <a:prstGeom prst="line">
            <a:avLst/>
          </a:prstGeom>
          <a:ln w="12700">
            <a:solidFill>
              <a:srgbClr val="1D1D1F"/>
            </a:solidFill>
          </a:ln>
        </p:spPr>
      </p:cxnSp>
      <p:sp>
        <p:nvSpPr>
          <p:cNvPr id="20" name="!!CleoSignal"/>
          <p:cNvSpPr/>
          <p:nvPr/>
        </p:nvSpPr>
        <p:spPr>
          <a:xfrm>
            <a:off x="9052560" y="960120"/>
            <a:ext cx="182880" cy="182880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père À insérer"/>
          <p:cNvSpPr/>
          <p:nvPr/>
        </p:nvSpPr>
        <p:spPr>
          <a:xfrm>
            <a:off x="10451592" y="914400"/>
            <a:ext cx="1188720" cy="274320"/>
          </a:xfrm>
          <a:prstGeom prst="rect">
            <a:avLst/>
          </a:prstGeom>
          <a:noFill/>
          <a:ln w="9525">
            <a:solidFill>
              <a:srgbClr val="AAAAAA"/>
            </a:solidFill>
          </a:ln>
        </p:spPr>
        <p:txBody>
          <a:bodyPr rtlCol="0" anchor="ctr" wrap="square" lIns="36576" tIns="36576" r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À INSÉRER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rojectLabel"/>
          <p:cNvSpPr txBox="1"/>
          <p:nvPr/>
        </p:nvSpPr>
        <p:spPr>
          <a:xfrm>
            <a:off x="548640" y="31089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lang="fr-FR" spc="150">
                <a:solidFill>
                  <a:srgbClr val="1D1D1F"/>
                </a:solidFill>
                <a:latin typeface="Anton"/>
              </a:rPr>
              <a:t>CLÉOPÂTRE</a:t>
            </a:r>
          </a:p>
        </p:txBody>
      </p:sp>
      <p:sp>
        <p:nvSpPr>
          <p:cNvPr id="3" name="!!ChapterIndex"/>
          <p:cNvSpPr txBox="1"/>
          <p:nvPr/>
        </p:nvSpPr>
        <p:spPr>
          <a:xfrm>
            <a:off x="5239512" y="36576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15 / 20   ·   CONCEPTION · DIAGRAMME 05</a:t>
            </a:r>
          </a:p>
        </p:txBody>
      </p:sp>
      <p:sp>
        <p:nvSpPr>
          <p:cNvPr id="4" name="!!MorphHeadline"/>
          <p:cNvSpPr txBox="1"/>
          <p:nvPr/>
        </p:nvSpPr>
        <p:spPr>
          <a:xfrm>
            <a:off x="548640" y="768096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800" b="1" lang="fr-FR">
                <a:solidFill>
                  <a:srgbClr val="1D1D1F"/>
                </a:solidFill>
                <a:latin typeface="Instrument Sans"/>
              </a:rPr>
              <a:t>Diagramme 05 — À insérer</a:t>
            </a:r>
          </a:p>
        </p:txBody>
      </p:sp>
      <p:sp>
        <p:nvSpPr>
          <p:cNvPr id="5" name="!!DiagramFrame"/>
          <p:cNvSpPr/>
          <p:nvPr/>
        </p:nvSpPr>
        <p:spPr>
          <a:xfrm>
            <a:off x="548640" y="1481328"/>
            <a:ext cx="11091672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!!NarrativePath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9050">
            <a:solidFill>
              <a:srgbClr val="1D1D1F"/>
            </a:solidFill>
          </a:ln>
        </p:spPr>
      </p:cxnSp>
      <p:sp>
        <p:nvSpPr>
          <p:cNvPr id="7" name="!!CornerTL"/>
          <p:cNvSpPr/>
          <p:nvPr/>
        </p:nvSpPr>
        <p:spPr>
          <a:xfrm>
            <a:off x="475488" y="1408176"/>
            <a:ext cx="146304" cy="146304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CornerTR"/>
          <p:cNvSpPr/>
          <p:nvPr/>
        </p:nvSpPr>
        <p:spPr>
          <a:xfrm>
            <a:off x="11567160" y="1408176"/>
            <a:ext cx="146304" cy="146304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!!CornerBL"/>
          <p:cNvSpPr/>
          <p:nvPr/>
        </p:nvSpPr>
        <p:spPr>
          <a:xfrm>
            <a:off x="475488" y="6190488"/>
            <a:ext cx="146304" cy="146304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!!CornerBR"/>
          <p:cNvSpPr/>
          <p:nvPr/>
        </p:nvSpPr>
        <p:spPr>
          <a:xfrm>
            <a:off x="11567160" y="6190488"/>
            <a:ext cx="146304" cy="146304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!!Node1"/>
          <p:cNvSpPr/>
          <p:nvPr/>
        </p:nvSpPr>
        <p:spPr>
          <a:xfrm>
            <a:off x="6309360" y="9601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!!Node2"/>
          <p:cNvSpPr/>
          <p:nvPr/>
        </p:nvSpPr>
        <p:spPr>
          <a:xfrm>
            <a:off x="7223760" y="9601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Node3"/>
          <p:cNvSpPr/>
          <p:nvPr/>
        </p:nvSpPr>
        <p:spPr>
          <a:xfrm>
            <a:off x="8138160" y="9601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!!Node4"/>
          <p:cNvSpPr/>
          <p:nvPr/>
        </p:nvSpPr>
        <p:spPr>
          <a:xfrm>
            <a:off x="9052560" y="9601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Node5"/>
          <p:cNvSpPr/>
          <p:nvPr/>
        </p:nvSpPr>
        <p:spPr>
          <a:xfrm>
            <a:off x="9966960" y="9601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1D1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6" name="!!LinkA"/>
          <p:cNvCxnSpPr>
            <a:stCxn id="11" idx="3"/>
            <a:endCxn id="12" idx="1"/>
          </p:cNvCxnSpPr>
          <p:nvPr/>
        </p:nvCxnSpPr>
        <p:spPr>
          <a:xfrm flipV="1">
            <a:off x="6492240" y="1051560"/>
            <a:ext cx="731520" cy="0"/>
          </a:xfrm>
          <a:prstGeom prst="line">
            <a:avLst/>
          </a:prstGeom>
          <a:ln w="12700">
            <a:solidFill>
              <a:srgbClr val="1D1D1F"/>
            </a:solidFill>
          </a:ln>
        </p:spPr>
      </p:cxnSp>
      <p:cxnSp>
        <p:nvCxnSpPr>
          <p:cNvPr id="17" name="!!LinkB"/>
          <p:cNvCxnSpPr>
            <a:stCxn id="12" idx="3"/>
            <a:endCxn id="13" idx="1"/>
          </p:cNvCxnSpPr>
          <p:nvPr/>
        </p:nvCxnSpPr>
        <p:spPr>
          <a:xfrm flipV="1">
            <a:off x="7406640" y="1051560"/>
            <a:ext cx="731520" cy="0"/>
          </a:xfrm>
          <a:prstGeom prst="line">
            <a:avLst/>
          </a:prstGeom>
          <a:ln w="12700">
            <a:solidFill>
              <a:srgbClr val="1D1D1F"/>
            </a:solidFill>
          </a:ln>
        </p:spPr>
      </p:cxnSp>
      <p:cxnSp>
        <p:nvCxnSpPr>
          <p:cNvPr id="18" name="!!LinkC"/>
          <p:cNvCxnSpPr>
            <a:stCxn id="13" idx="3"/>
            <a:endCxn id="14" idx="1"/>
          </p:cNvCxnSpPr>
          <p:nvPr/>
        </p:nvCxnSpPr>
        <p:spPr>
          <a:xfrm flipV="1">
            <a:off x="8321040" y="1051560"/>
            <a:ext cx="731520" cy="0"/>
          </a:xfrm>
          <a:prstGeom prst="line">
            <a:avLst/>
          </a:prstGeom>
          <a:ln w="12700">
            <a:solidFill>
              <a:srgbClr val="1D1D1F"/>
            </a:solidFill>
          </a:ln>
        </p:spPr>
      </p:cxnSp>
      <p:cxnSp>
        <p:nvCxnSpPr>
          <p:cNvPr id="19" name="!!LinkD"/>
          <p:cNvCxnSpPr>
            <a:stCxn id="14" idx="3"/>
            <a:endCxn id="15" idx="1"/>
          </p:cNvCxnSpPr>
          <p:nvPr/>
        </p:nvCxnSpPr>
        <p:spPr>
          <a:xfrm flipV="1">
            <a:off x="9235440" y="1051560"/>
            <a:ext cx="731520" cy="0"/>
          </a:xfrm>
          <a:prstGeom prst="line">
            <a:avLst/>
          </a:prstGeom>
          <a:ln w="12700">
            <a:solidFill>
              <a:srgbClr val="1D1D1F"/>
            </a:solidFill>
          </a:ln>
        </p:spPr>
      </p:cxnSp>
      <p:sp>
        <p:nvSpPr>
          <p:cNvPr id="20" name="!!CleoSignal"/>
          <p:cNvSpPr/>
          <p:nvPr/>
        </p:nvSpPr>
        <p:spPr>
          <a:xfrm>
            <a:off x="9966960" y="960120"/>
            <a:ext cx="182880" cy="182880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père À insérer"/>
          <p:cNvSpPr/>
          <p:nvPr/>
        </p:nvSpPr>
        <p:spPr>
          <a:xfrm>
            <a:off x="10451592" y="914400"/>
            <a:ext cx="1188720" cy="274320"/>
          </a:xfrm>
          <a:prstGeom prst="rect">
            <a:avLst/>
          </a:prstGeom>
          <a:noFill/>
          <a:ln w="9525">
            <a:solidFill>
              <a:srgbClr val="AAAAAA"/>
            </a:solidFill>
          </a:ln>
        </p:spPr>
        <p:txBody>
          <a:bodyPr rtlCol="0" anchor="ctr" wrap="square" lIns="36576" tIns="36576" r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À INSÉRER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rojectLabel"/>
          <p:cNvSpPr txBox="1"/>
          <p:nvPr/>
        </p:nvSpPr>
        <p:spPr>
          <a:xfrm>
            <a:off x="548640" y="31089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lang="fr-FR" spc="150">
                <a:solidFill>
                  <a:srgbClr val="1D1D1F"/>
                </a:solidFill>
                <a:latin typeface="Anton"/>
              </a:rPr>
              <a:t>CLÉOPÂTRE</a:t>
            </a:r>
          </a:p>
        </p:txBody>
      </p:sp>
      <p:sp>
        <p:nvSpPr>
          <p:cNvPr id="3" name="!!ChapterIndex"/>
          <p:cNvSpPr txBox="1"/>
          <p:nvPr/>
        </p:nvSpPr>
        <p:spPr>
          <a:xfrm>
            <a:off x="5239512" y="36576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16 / 20   ·   RÉALISATION · ENVIRONNEMENT</a:t>
            </a:r>
          </a:p>
        </p:txBody>
      </p:sp>
      <p:sp>
        <p:nvSpPr>
          <p:cNvPr id="4" name="!!MorphHeadline"/>
          <p:cNvSpPr txBox="1"/>
          <p:nvPr/>
        </p:nvSpPr>
        <p:spPr>
          <a:xfrm>
            <a:off x="548640" y="768096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000" b="1" lang="fr-FR">
                <a:solidFill>
                  <a:srgbClr val="1D1D1F"/>
                </a:solidFill>
                <a:latin typeface="Instrument Sans"/>
              </a:rPr>
              <a:t>Caractéristiques matérielles et environnement</a:t>
            </a:r>
          </a:p>
        </p:txBody>
      </p:sp>
      <p:sp>
        <p:nvSpPr>
          <p:cNvPr id="5" name="!!DiagramFrame"/>
          <p:cNvSpPr/>
          <p:nvPr/>
        </p:nvSpPr>
        <p:spPr>
          <a:xfrm>
            <a:off x="548640" y="1600200"/>
            <a:ext cx="4206240" cy="466344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CornerTL"/>
          <p:cNvSpPr/>
          <p:nvPr/>
        </p:nvSpPr>
        <p:spPr>
          <a:xfrm>
            <a:off x="475488" y="1527048"/>
            <a:ext cx="146304" cy="146304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CornerTR"/>
          <p:cNvSpPr/>
          <p:nvPr/>
        </p:nvSpPr>
        <p:spPr>
          <a:xfrm>
            <a:off x="4681728" y="1527048"/>
            <a:ext cx="146304" cy="146304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CornerBL"/>
          <p:cNvSpPr/>
          <p:nvPr/>
        </p:nvSpPr>
        <p:spPr>
          <a:xfrm>
            <a:off x="475488" y="6190488"/>
            <a:ext cx="146304" cy="146304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!!CornerBR"/>
          <p:cNvSpPr/>
          <p:nvPr/>
        </p:nvSpPr>
        <p:spPr>
          <a:xfrm>
            <a:off x="4681728" y="6190488"/>
            <a:ext cx="146304" cy="146304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Étiquette logiciel"/>
          <p:cNvSpPr txBox="1"/>
          <p:nvPr/>
        </p:nvSpPr>
        <p:spPr>
          <a:xfrm>
            <a:off x="868680" y="1920240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 spc="60">
                <a:solidFill>
                  <a:srgbClr val="AAAAAA"/>
                </a:solidFill>
                <a:latin typeface="JetBrains Mono"/>
              </a:rPr>
              <a:t>ENVIRONNEMENT LOGICIEL</a:t>
            </a:r>
          </a:p>
        </p:txBody>
      </p:sp>
      <p:sp>
        <p:nvSpPr>
          <p:cNvPr id="11" name="Pile logicielle"/>
          <p:cNvSpPr txBox="1"/>
          <p:nvPr/>
        </p:nvSpPr>
        <p:spPr>
          <a:xfrm>
            <a:off x="868680" y="22860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400" b="1" lang="fr-FR">
                <a:solidFill>
                  <a:srgbClr val="FFFFFF"/>
                </a:solidFill>
                <a:latin typeface="Instrument Sans"/>
              </a:rPr>
              <a:t>Application Next.js</a:t>
            </a:r>
          </a:p>
          <a:p>
            <a:pPr algn="l">
              <a:spcAft>
                <a:spcPts val="0"/>
              </a:spcAft>
            </a:pPr>
            <a:r>
              <a:rPr sz="2400" b="1" lang="fr-FR">
                <a:solidFill>
                  <a:srgbClr val="FFFFFF"/>
                </a:solidFill>
                <a:latin typeface="Instrument Sans"/>
              </a:rPr>
              <a:t>Base PostgreSQL</a:t>
            </a:r>
          </a:p>
        </p:txBody>
      </p:sp>
      <p:sp>
        <p:nvSpPr>
          <p:cNvPr id="12" name="!!VideoStage"/>
          <p:cNvSpPr/>
          <p:nvPr/>
        </p:nvSpPr>
        <p:spPr>
          <a:xfrm>
            <a:off x="868680" y="3840480"/>
            <a:ext cx="3566160" cy="2011680"/>
          </a:xfrm>
          <a:prstGeom prst="rect">
            <a:avLst/>
          </a:prstGeom>
          <a:noFill/>
          <a:ln w="12700">
            <a:solidFill>
              <a:srgbClr val="AAAAAA"/>
            </a:solidFill>
          </a:ln>
        </p:spPr>
        <p:txBody>
          <a:bodyPr rtlCol="0" anchor="ctr" wrap="square" lIns="274320" tIns="274320" rIns="274320" bIns="274320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0" lang="fr-FR">
                <a:solidFill>
                  <a:srgbClr val="AAAAAA"/>
                </a:solidFill>
                <a:latin typeface="Instrument Sans"/>
              </a:rPr>
              <a:t>Accès par navigateur : client et équipe</a:t>
            </a:r>
          </a:p>
        </p:txBody>
      </p:sp>
      <p:cxnSp>
        <p:nvCxnSpPr>
          <p:cNvPr id="13" name="!!NarrativePath"/>
          <p:cNvCxnSpPr/>
          <p:nvPr/>
        </p:nvCxnSpPr>
        <p:spPr>
          <a:xfrm>
            <a:off x="5303520" y="1600200"/>
            <a:ext cx="6336792" cy="0"/>
          </a:xfrm>
          <a:prstGeom prst="line">
            <a:avLst/>
          </a:prstGeom>
          <a:ln w="19050">
            <a:solidFill>
              <a:srgbClr val="1D1D1F"/>
            </a:solidFill>
          </a:ln>
        </p:spPr>
      </p:cxnSp>
      <p:sp>
        <p:nvSpPr>
          <p:cNvPr id="14" name="!!CleoSignal"/>
          <p:cNvSpPr/>
          <p:nvPr/>
        </p:nvSpPr>
        <p:spPr>
          <a:xfrm>
            <a:off x="5303520" y="1737360"/>
            <a:ext cx="146304" cy="146304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roupe confirmé"/>
          <p:cNvSpPr txBox="1"/>
          <p:nvPr/>
        </p:nvSpPr>
        <p:spPr>
          <a:xfrm>
            <a:off x="5577840" y="1700784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 spc="60">
                <a:solidFill>
                  <a:srgbClr val="075E46"/>
                </a:solidFill>
                <a:latin typeface="JetBrains Mono"/>
              </a:rPr>
              <a:t>CONFIRMÉ PAR LE PROJET</a:t>
            </a:r>
          </a:p>
        </p:txBody>
      </p:sp>
      <p:sp>
        <p:nvSpPr>
          <p:cNvPr id="16" name="Libellé CLIENT"/>
          <p:cNvSpPr txBox="1"/>
          <p:nvPr/>
        </p:nvSpPr>
        <p:spPr>
          <a:xfrm>
            <a:off x="5303520" y="217627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lang="fr-FR" spc="60">
                <a:solidFill>
                  <a:srgbClr val="6E6E73"/>
                </a:solidFill>
                <a:latin typeface="JetBrains Mono"/>
              </a:rPr>
              <a:t>CLIENT</a:t>
            </a:r>
          </a:p>
        </p:txBody>
      </p:sp>
      <p:sp>
        <p:nvSpPr>
          <p:cNvPr id="17" name="Valeur CLIENT"/>
          <p:cNvSpPr txBox="1"/>
          <p:nvPr/>
        </p:nvSpPr>
        <p:spPr>
          <a:xfrm>
            <a:off x="6949440" y="2103120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lang="fr-FR">
                <a:solidFill>
                  <a:srgbClr val="1D1D1F"/>
                </a:solidFill>
                <a:latin typeface="Instrument Sans"/>
              </a:rPr>
              <a:t>Smartphone ou ordinateur avec navigateur web</a:t>
            </a:r>
          </a:p>
        </p:txBody>
      </p:sp>
      <p:cxnSp>
        <p:nvCxnSpPr>
          <p:cNvPr id="18" name="Filet CLIENT"/>
          <p:cNvCxnSpPr/>
          <p:nvPr/>
        </p:nvCxnSpPr>
        <p:spPr>
          <a:xfrm>
            <a:off x="5303520" y="2770632"/>
            <a:ext cx="6336792" cy="0"/>
          </a:xfrm>
          <a:prstGeom prst="line">
            <a:avLst/>
          </a:prstGeom>
          <a:ln w="9525">
            <a:solidFill>
              <a:srgbClr val="D2D2D7"/>
            </a:solidFill>
          </a:ln>
        </p:spPr>
      </p:cxnSp>
      <p:sp>
        <p:nvSpPr>
          <p:cNvPr id="19" name="Libellé ÉQUIPE"/>
          <p:cNvSpPr txBox="1"/>
          <p:nvPr/>
        </p:nvSpPr>
        <p:spPr>
          <a:xfrm>
            <a:off x="5303520" y="286207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lang="fr-FR" spc="60">
                <a:solidFill>
                  <a:srgbClr val="6E6E73"/>
                </a:solidFill>
                <a:latin typeface="JetBrains Mono"/>
              </a:rPr>
              <a:t>ÉQUIPE</a:t>
            </a:r>
          </a:p>
        </p:txBody>
      </p:sp>
      <p:sp>
        <p:nvSpPr>
          <p:cNvPr id="20" name="Valeur ÉQUIPE"/>
          <p:cNvSpPr txBox="1"/>
          <p:nvPr/>
        </p:nvSpPr>
        <p:spPr>
          <a:xfrm>
            <a:off x="6949440" y="2788920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lang="fr-FR">
                <a:solidFill>
                  <a:srgbClr val="1D1D1F"/>
                </a:solidFill>
                <a:latin typeface="Instrument Sans"/>
              </a:rPr>
              <a:t>Poste de travail et accès à l’administration</a:t>
            </a:r>
          </a:p>
        </p:txBody>
      </p:sp>
      <p:cxnSp>
        <p:nvCxnSpPr>
          <p:cNvPr id="21" name="Filet ÉQUIPE"/>
          <p:cNvCxnSpPr/>
          <p:nvPr/>
        </p:nvCxnSpPr>
        <p:spPr>
          <a:xfrm>
            <a:off x="5303520" y="3456432"/>
            <a:ext cx="6336792" cy="0"/>
          </a:xfrm>
          <a:prstGeom prst="line">
            <a:avLst/>
          </a:prstGeom>
          <a:ln w="9525">
            <a:solidFill>
              <a:srgbClr val="D2D2D7"/>
            </a:solidFill>
          </a:ln>
        </p:spPr>
      </p:cxnSp>
      <p:sp>
        <p:nvSpPr>
          <p:cNvPr id="22" name="Repère à préciser"/>
          <p:cNvSpPr/>
          <p:nvPr/>
        </p:nvSpPr>
        <p:spPr>
          <a:xfrm>
            <a:off x="5303520" y="3657600"/>
            <a:ext cx="146304" cy="146304"/>
          </a:xfrm>
          <a:prstGeom prst="rect">
            <a:avLst/>
          </a:prstGeom>
          <a:solidFill>
            <a:srgbClr val="B25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roupe à préciser"/>
          <p:cNvSpPr txBox="1"/>
          <p:nvPr/>
        </p:nvSpPr>
        <p:spPr>
          <a:xfrm>
            <a:off x="5577840" y="3621024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 spc="60">
                <a:solidFill>
                  <a:srgbClr val="B25000"/>
                </a:solidFill>
                <a:latin typeface="JetBrains Mono"/>
              </a:rPr>
              <a:t>À COMPLÉTER</a:t>
            </a:r>
          </a:p>
        </p:txBody>
      </p:sp>
      <p:cxnSp>
        <p:nvCxnSpPr>
          <p:cNvPr id="24" name="Filet groupe 2"/>
          <p:cNvCxnSpPr/>
          <p:nvPr/>
        </p:nvCxnSpPr>
        <p:spPr>
          <a:xfrm>
            <a:off x="5303520" y="3959352"/>
            <a:ext cx="6336792" cy="0"/>
          </a:xfrm>
          <a:prstGeom prst="line">
            <a:avLst/>
          </a:prstGeom>
          <a:ln w="12700">
            <a:solidFill>
              <a:srgbClr val="1D1D1F"/>
            </a:solidFill>
          </a:ln>
        </p:spPr>
      </p:cxnSp>
      <p:sp>
        <p:nvSpPr>
          <p:cNvPr id="25" name="Libellé PROCESSEUR"/>
          <p:cNvSpPr txBox="1"/>
          <p:nvPr/>
        </p:nvSpPr>
        <p:spPr>
          <a:xfrm>
            <a:off x="5303520" y="413308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lang="fr-FR" spc="60">
                <a:solidFill>
                  <a:srgbClr val="6E6E73"/>
                </a:solidFill>
                <a:latin typeface="JetBrains Mono"/>
              </a:rPr>
              <a:t>PROCESSEUR</a:t>
            </a:r>
          </a:p>
        </p:txBody>
      </p:sp>
      <p:sp>
        <p:nvSpPr>
          <p:cNvPr id="26" name="Champ PROCESSEUR"/>
          <p:cNvSpPr txBox="1"/>
          <p:nvPr/>
        </p:nvSpPr>
        <p:spPr>
          <a:xfrm>
            <a:off x="6949440" y="4078224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lang="fr-FR">
                <a:solidFill>
                  <a:srgbClr val="1D1D1F"/>
                </a:solidFill>
                <a:latin typeface="Instrument Sans"/>
              </a:rPr>
              <a:t>[Processeur]</a:t>
            </a:r>
          </a:p>
        </p:txBody>
      </p:sp>
      <p:sp>
        <p:nvSpPr>
          <p:cNvPr id="27" name="Statut PROCESSEUR"/>
          <p:cNvSpPr txBox="1"/>
          <p:nvPr/>
        </p:nvSpPr>
        <p:spPr>
          <a:xfrm>
            <a:off x="10058400" y="4142232"/>
            <a:ext cx="15819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200" b="0" lang="fr-FR">
                <a:solidFill>
                  <a:srgbClr val="B25000"/>
                </a:solidFill>
                <a:latin typeface="JetBrains Mono"/>
              </a:rPr>
              <a:t>à préciser</a:t>
            </a:r>
          </a:p>
        </p:txBody>
      </p:sp>
      <p:cxnSp>
        <p:nvCxnSpPr>
          <p:cNvPr id="28" name="Filet PROCESSEUR"/>
          <p:cNvCxnSpPr/>
          <p:nvPr/>
        </p:nvCxnSpPr>
        <p:spPr>
          <a:xfrm>
            <a:off x="5303520" y="4572000"/>
            <a:ext cx="6336792" cy="0"/>
          </a:xfrm>
          <a:prstGeom prst="line">
            <a:avLst/>
          </a:prstGeom>
          <a:ln w="9525">
            <a:solidFill>
              <a:srgbClr val="D2D2D7"/>
            </a:solidFill>
          </a:ln>
        </p:spPr>
      </p:cxnSp>
      <p:sp>
        <p:nvSpPr>
          <p:cNvPr id="29" name="Libellé MÉMOIRE"/>
          <p:cNvSpPr txBox="1"/>
          <p:nvPr/>
        </p:nvSpPr>
        <p:spPr>
          <a:xfrm>
            <a:off x="5303520" y="470001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lang="fr-FR" spc="60">
                <a:solidFill>
                  <a:srgbClr val="6E6E73"/>
                </a:solidFill>
                <a:latin typeface="JetBrains Mono"/>
              </a:rPr>
              <a:t>MÉMOIRE</a:t>
            </a:r>
          </a:p>
        </p:txBody>
      </p:sp>
      <p:sp>
        <p:nvSpPr>
          <p:cNvPr id="30" name="Champ MÉMOIRE"/>
          <p:cNvSpPr txBox="1"/>
          <p:nvPr/>
        </p:nvSpPr>
        <p:spPr>
          <a:xfrm>
            <a:off x="6949440" y="46451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lang="fr-FR">
                <a:solidFill>
                  <a:srgbClr val="1D1D1F"/>
                </a:solidFill>
                <a:latin typeface="Instrument Sans"/>
              </a:rPr>
              <a:t>[Mémoire]</a:t>
            </a:r>
          </a:p>
        </p:txBody>
      </p:sp>
      <p:sp>
        <p:nvSpPr>
          <p:cNvPr id="31" name="Statut MÉMOIRE"/>
          <p:cNvSpPr txBox="1"/>
          <p:nvPr/>
        </p:nvSpPr>
        <p:spPr>
          <a:xfrm>
            <a:off x="10058400" y="4709160"/>
            <a:ext cx="15819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200" b="0" lang="fr-FR">
                <a:solidFill>
                  <a:srgbClr val="B25000"/>
                </a:solidFill>
                <a:latin typeface="JetBrains Mono"/>
              </a:rPr>
              <a:t>à préciser</a:t>
            </a:r>
          </a:p>
        </p:txBody>
      </p:sp>
      <p:cxnSp>
        <p:nvCxnSpPr>
          <p:cNvPr id="32" name="Filet MÉMOIRE"/>
          <p:cNvCxnSpPr/>
          <p:nvPr/>
        </p:nvCxnSpPr>
        <p:spPr>
          <a:xfrm>
            <a:off x="5303520" y="5138928"/>
            <a:ext cx="6336792" cy="0"/>
          </a:xfrm>
          <a:prstGeom prst="line">
            <a:avLst/>
          </a:prstGeom>
          <a:ln w="9525">
            <a:solidFill>
              <a:srgbClr val="D2D2D7"/>
            </a:solidFill>
          </a:ln>
        </p:spPr>
      </p:cxnSp>
      <p:sp>
        <p:nvSpPr>
          <p:cNvPr id="33" name="Libellé STOCKAGE"/>
          <p:cNvSpPr txBox="1"/>
          <p:nvPr/>
        </p:nvSpPr>
        <p:spPr>
          <a:xfrm>
            <a:off x="5303520" y="5266944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lang="fr-FR" spc="60">
                <a:solidFill>
                  <a:srgbClr val="6E6E73"/>
                </a:solidFill>
                <a:latin typeface="JetBrains Mono"/>
              </a:rPr>
              <a:t>STOCKAGE</a:t>
            </a:r>
          </a:p>
        </p:txBody>
      </p:sp>
      <p:sp>
        <p:nvSpPr>
          <p:cNvPr id="34" name="Champ STOCKAGE"/>
          <p:cNvSpPr txBox="1"/>
          <p:nvPr/>
        </p:nvSpPr>
        <p:spPr>
          <a:xfrm>
            <a:off x="6949440" y="5212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lang="fr-FR">
                <a:solidFill>
                  <a:srgbClr val="1D1D1F"/>
                </a:solidFill>
                <a:latin typeface="Instrument Sans"/>
              </a:rPr>
              <a:t>[Stockage]</a:t>
            </a:r>
          </a:p>
        </p:txBody>
      </p:sp>
      <p:sp>
        <p:nvSpPr>
          <p:cNvPr id="35" name="Statut STOCKAGE"/>
          <p:cNvSpPr txBox="1"/>
          <p:nvPr/>
        </p:nvSpPr>
        <p:spPr>
          <a:xfrm>
            <a:off x="10058400" y="5276088"/>
            <a:ext cx="15819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200" b="0" lang="fr-FR">
                <a:solidFill>
                  <a:srgbClr val="B25000"/>
                </a:solidFill>
                <a:latin typeface="JetBrains Mono"/>
              </a:rPr>
              <a:t>à préciser</a:t>
            </a:r>
          </a:p>
        </p:txBody>
      </p:sp>
      <p:cxnSp>
        <p:nvCxnSpPr>
          <p:cNvPr id="36" name="Filet STOCKAGE"/>
          <p:cNvCxnSpPr/>
          <p:nvPr/>
        </p:nvCxnSpPr>
        <p:spPr>
          <a:xfrm>
            <a:off x="5303520" y="5705856"/>
            <a:ext cx="6336792" cy="0"/>
          </a:xfrm>
          <a:prstGeom prst="line">
            <a:avLst/>
          </a:prstGeom>
          <a:ln w="9525">
            <a:solidFill>
              <a:srgbClr val="D2D2D7"/>
            </a:solidFill>
          </a:ln>
        </p:spPr>
      </p:cxnSp>
      <p:sp>
        <p:nvSpPr>
          <p:cNvPr id="37" name="Libellé HÉBERGEMENT"/>
          <p:cNvSpPr txBox="1"/>
          <p:nvPr/>
        </p:nvSpPr>
        <p:spPr>
          <a:xfrm>
            <a:off x="5303520" y="583387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lang="fr-FR" spc="60">
                <a:solidFill>
                  <a:srgbClr val="6E6E73"/>
                </a:solidFill>
                <a:latin typeface="JetBrains Mono"/>
              </a:rPr>
              <a:t>HÉBERGEMENT</a:t>
            </a:r>
          </a:p>
        </p:txBody>
      </p:sp>
      <p:sp>
        <p:nvSpPr>
          <p:cNvPr id="38" name="Champ HÉBERGEMENT"/>
          <p:cNvSpPr txBox="1"/>
          <p:nvPr/>
        </p:nvSpPr>
        <p:spPr>
          <a:xfrm>
            <a:off x="6949440" y="577900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lang="fr-FR">
                <a:solidFill>
                  <a:srgbClr val="1D1D1F"/>
                </a:solidFill>
                <a:latin typeface="Instrument Sans"/>
              </a:rPr>
              <a:t>[Hébergement]</a:t>
            </a:r>
          </a:p>
        </p:txBody>
      </p:sp>
      <p:sp>
        <p:nvSpPr>
          <p:cNvPr id="39" name="Statut HÉBERGEMENT"/>
          <p:cNvSpPr txBox="1"/>
          <p:nvPr/>
        </p:nvSpPr>
        <p:spPr>
          <a:xfrm>
            <a:off x="10058400" y="5843016"/>
            <a:ext cx="15819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200" b="0" lang="fr-FR">
                <a:solidFill>
                  <a:srgbClr val="B25000"/>
                </a:solidFill>
                <a:latin typeface="JetBrains Mono"/>
              </a:rPr>
              <a:t>à préciser</a:t>
            </a:r>
          </a:p>
        </p:txBody>
      </p:sp>
      <p:cxnSp>
        <p:nvCxnSpPr>
          <p:cNvPr id="40" name="Filet HÉBERGEMENT"/>
          <p:cNvCxnSpPr/>
          <p:nvPr/>
        </p:nvCxnSpPr>
        <p:spPr>
          <a:xfrm>
            <a:off x="5303520" y="6272784"/>
            <a:ext cx="6336792" cy="0"/>
          </a:xfrm>
          <a:prstGeom prst="line">
            <a:avLst/>
          </a:prstGeom>
          <a:ln w="9525">
            <a:solidFill>
              <a:srgbClr val="D2D2D7"/>
            </a:solidFill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rojectLabel"/>
          <p:cNvSpPr txBox="1"/>
          <p:nvPr/>
        </p:nvSpPr>
        <p:spPr>
          <a:xfrm>
            <a:off x="548640" y="31089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lang="fr-FR" spc="150">
                <a:solidFill>
                  <a:srgbClr val="1D1D1F"/>
                </a:solidFill>
                <a:latin typeface="Anton"/>
              </a:rPr>
              <a:t>CLÉOPÂTRE</a:t>
            </a:r>
          </a:p>
        </p:txBody>
      </p:sp>
      <p:sp>
        <p:nvSpPr>
          <p:cNvPr id="3" name="!!ChapterIndex"/>
          <p:cNvSpPr txBox="1"/>
          <p:nvPr/>
        </p:nvSpPr>
        <p:spPr>
          <a:xfrm>
            <a:off x="5239512" y="36576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17 / 20   ·   DÉMONSTRATION · CLIENT</a:t>
            </a:r>
          </a:p>
        </p:txBody>
      </p:sp>
      <p:sp>
        <p:nvSpPr>
          <p:cNvPr id="4" name="!!MorphHeadline"/>
          <p:cNvSpPr txBox="1"/>
          <p:nvPr/>
        </p:nvSpPr>
        <p:spPr>
          <a:xfrm>
            <a:off x="548640" y="768096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800" b="1" lang="fr-FR">
                <a:solidFill>
                  <a:srgbClr val="1D1D1F"/>
                </a:solidFill>
                <a:latin typeface="Instrument Sans"/>
              </a:rPr>
              <a:t>Interface client : démonstration vidéo</a:t>
            </a:r>
          </a:p>
        </p:txBody>
      </p:sp>
      <p:sp>
        <p:nvSpPr>
          <p:cNvPr id="5" name="!!VideoStage"/>
          <p:cNvSpPr/>
          <p:nvPr/>
        </p:nvSpPr>
        <p:spPr>
          <a:xfrm>
            <a:off x="548640" y="1508760"/>
            <a:ext cx="8321040" cy="4681728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txBody>
          <a:bodyPr rtlCol="0" anchor="ctr" wrap="square" lIns="365760" tIns="365760" rIns="365760" bIns="365760">
            <a:noAutofit/>
          </a:bodyPr>
          <a:lstStyle/>
          <a:p>
            <a:pPr algn="ctr">
              <a:spcAft>
                <a:spcPts val="0"/>
              </a:spcAft>
            </a:pPr>
            <a:r>
              <a:rPr sz="2400" b="1" lang="fr-FR">
                <a:solidFill>
                  <a:srgbClr val="FFFFFF"/>
                </a:solidFill>
                <a:latin typeface="Instrument Sans"/>
              </a:rPr>
              <a:t>Insérer ici la vidéo de l’interface client</a:t>
            </a:r>
          </a:p>
        </p:txBody>
      </p:sp>
      <p:cxnSp>
        <p:nvCxnSpPr>
          <p:cNvPr id="6" name="!!NarrativePath"/>
          <p:cNvCxnSpPr/>
          <p:nvPr/>
        </p:nvCxnSpPr>
        <p:spPr>
          <a:xfrm>
            <a:off x="9189720" y="1508760"/>
            <a:ext cx="0" cy="4681728"/>
          </a:xfrm>
          <a:prstGeom prst="line">
            <a:avLst/>
          </a:prstGeom>
          <a:ln w="9525">
            <a:solidFill>
              <a:srgbClr val="AAAAAA"/>
            </a:solidFill>
          </a:ln>
        </p:spPr>
      </p:cxnSp>
      <p:sp>
        <p:nvSpPr>
          <p:cNvPr id="7" name="!!CleoSignal"/>
          <p:cNvSpPr/>
          <p:nvPr/>
        </p:nvSpPr>
        <p:spPr>
          <a:xfrm>
            <a:off x="9464040" y="1508760"/>
            <a:ext cx="1188720" cy="91440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père démo"/>
          <p:cNvSpPr txBox="1"/>
          <p:nvPr/>
        </p:nvSpPr>
        <p:spPr>
          <a:xfrm>
            <a:off x="9464040" y="17830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DÉMO 01 / 02</a:t>
            </a:r>
          </a:p>
        </p:txBody>
      </p:sp>
      <p:sp>
        <p:nvSpPr>
          <p:cNvPr id="9" name="Parcours à montrer"/>
          <p:cNvSpPr txBox="1"/>
          <p:nvPr/>
        </p:nvSpPr>
        <p:spPr>
          <a:xfrm>
            <a:off x="9464040" y="2331720"/>
            <a:ext cx="2194560" cy="2926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 lang="fr-FR" spc="60">
                <a:solidFill>
                  <a:srgbClr val="075E46"/>
                </a:solidFill>
                <a:latin typeface="JetBrains Mono"/>
              </a:rPr>
              <a:t>PARCOURS À MONTRER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0" lang="fr-FR">
                <a:solidFill>
                  <a:srgbClr val="1D1D1F"/>
                </a:solidFill>
                <a:latin typeface="Instrument Sans"/>
              </a:rPr>
              <a:t>Accueil et univers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0" lang="fr-FR">
                <a:solidFill>
                  <a:srgbClr val="1D1D1F"/>
                </a:solidFill>
                <a:latin typeface="Instrument Sans"/>
              </a:rPr>
              <a:t>Catalogue et fiche produit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0" lang="fr-FR">
                <a:solidFill>
                  <a:srgbClr val="1D1D1F"/>
                </a:solidFill>
                <a:latin typeface="Instrument Sans"/>
              </a:rPr>
              <a:t>Panier et commande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0" lang="fr-FR">
                <a:solidFill>
                  <a:srgbClr val="1D1D1F"/>
                </a:solidFill>
                <a:latin typeface="Instrument Sans"/>
              </a:rPr>
              <a:t>Compte et suivi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rojectLabel"/>
          <p:cNvSpPr txBox="1"/>
          <p:nvPr/>
        </p:nvSpPr>
        <p:spPr>
          <a:xfrm>
            <a:off x="548640" y="31089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lang="fr-FR" spc="150">
                <a:solidFill>
                  <a:srgbClr val="1D1D1F"/>
                </a:solidFill>
                <a:latin typeface="Anton"/>
              </a:rPr>
              <a:t>CLÉOPÂTRE</a:t>
            </a:r>
          </a:p>
        </p:txBody>
      </p:sp>
      <p:sp>
        <p:nvSpPr>
          <p:cNvPr id="3" name="!!ChapterIndex"/>
          <p:cNvSpPr txBox="1"/>
          <p:nvPr/>
        </p:nvSpPr>
        <p:spPr>
          <a:xfrm>
            <a:off x="5239512" y="36576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18 / 20   ·   DÉMONSTRATION · ADMINISTRATION</a:t>
            </a:r>
          </a:p>
        </p:txBody>
      </p:sp>
      <p:sp>
        <p:nvSpPr>
          <p:cNvPr id="4" name="!!MorphHeadline"/>
          <p:cNvSpPr txBox="1"/>
          <p:nvPr/>
        </p:nvSpPr>
        <p:spPr>
          <a:xfrm>
            <a:off x="3319272" y="768096"/>
            <a:ext cx="8321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800" b="1" lang="fr-FR">
                <a:solidFill>
                  <a:srgbClr val="1D1D1F"/>
                </a:solidFill>
                <a:latin typeface="Instrument Sans"/>
              </a:rPr>
              <a:t>Interface administration : démonstration vidéo</a:t>
            </a:r>
          </a:p>
        </p:txBody>
      </p:sp>
      <p:sp>
        <p:nvSpPr>
          <p:cNvPr id="5" name="!!VideoStage"/>
          <p:cNvSpPr/>
          <p:nvPr/>
        </p:nvSpPr>
        <p:spPr>
          <a:xfrm>
            <a:off x="3319272" y="1508760"/>
            <a:ext cx="8321040" cy="4681728"/>
          </a:xfrm>
          <a:prstGeom prst="rect">
            <a:avLst/>
          </a:prstGeom>
          <a:solidFill>
            <a:srgbClr val="054537"/>
          </a:solidFill>
          <a:ln>
            <a:noFill/>
          </a:ln>
        </p:spPr>
        <p:txBody>
          <a:bodyPr rtlCol="0" anchor="ctr" wrap="square" lIns="365760" tIns="365760" rIns="365760" bIns="365760">
            <a:noAutofit/>
          </a:bodyPr>
          <a:lstStyle/>
          <a:p>
            <a:pPr algn="ctr">
              <a:spcAft>
                <a:spcPts val="0"/>
              </a:spcAft>
            </a:pPr>
            <a:r>
              <a:rPr sz="2400" b="1" lang="fr-FR">
                <a:solidFill>
                  <a:srgbClr val="FFFFFF"/>
                </a:solidFill>
                <a:latin typeface="Instrument Sans"/>
              </a:rPr>
              <a:t>Insérer ici la vidéo de l’interface d’administration</a:t>
            </a:r>
          </a:p>
        </p:txBody>
      </p:sp>
      <p:cxnSp>
        <p:nvCxnSpPr>
          <p:cNvPr id="6" name="!!NarrativePath"/>
          <p:cNvCxnSpPr/>
          <p:nvPr/>
        </p:nvCxnSpPr>
        <p:spPr>
          <a:xfrm>
            <a:off x="3017520" y="1508760"/>
            <a:ext cx="0" cy="4681728"/>
          </a:xfrm>
          <a:prstGeom prst="line">
            <a:avLst/>
          </a:prstGeom>
          <a:ln w="9525">
            <a:solidFill>
              <a:srgbClr val="AAAAAA"/>
            </a:solidFill>
          </a:ln>
        </p:spPr>
      </p:cxnSp>
      <p:sp>
        <p:nvSpPr>
          <p:cNvPr id="7" name="!!CleoSignal"/>
          <p:cNvSpPr/>
          <p:nvPr/>
        </p:nvSpPr>
        <p:spPr>
          <a:xfrm>
            <a:off x="548640" y="1508760"/>
            <a:ext cx="1188720" cy="91440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père démo"/>
          <p:cNvSpPr txBox="1"/>
          <p:nvPr/>
        </p:nvSpPr>
        <p:spPr>
          <a:xfrm>
            <a:off x="548640" y="17830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DÉMO 02 / 02</a:t>
            </a:r>
          </a:p>
        </p:txBody>
      </p:sp>
      <p:sp>
        <p:nvSpPr>
          <p:cNvPr id="9" name="Parcours à montrer"/>
          <p:cNvSpPr txBox="1"/>
          <p:nvPr/>
        </p:nvSpPr>
        <p:spPr>
          <a:xfrm>
            <a:off x="548640" y="2331720"/>
            <a:ext cx="2286000" cy="3291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 lang="fr-FR" spc="60">
                <a:solidFill>
                  <a:srgbClr val="075E46"/>
                </a:solidFill>
                <a:latin typeface="JetBrains Mono"/>
              </a:rPr>
              <a:t>PARCOURS À MONTRER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0" lang="fr-FR">
                <a:solidFill>
                  <a:srgbClr val="1D1D1F"/>
                </a:solidFill>
                <a:latin typeface="Instrument Sans"/>
              </a:rPr>
              <a:t>Poste de commande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0" lang="fr-FR">
                <a:solidFill>
                  <a:srgbClr val="1D1D1F"/>
                </a:solidFill>
                <a:latin typeface="Instrument Sans"/>
              </a:rPr>
              <a:t>Produits et stocks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0" lang="fr-FR">
                <a:solidFill>
                  <a:srgbClr val="1D1D1F"/>
                </a:solidFill>
                <a:latin typeface="Instrument Sans"/>
              </a:rPr>
              <a:t>Commandes et préparation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0" lang="fr-FR">
                <a:solidFill>
                  <a:srgbClr val="1D1D1F"/>
                </a:solidFill>
                <a:latin typeface="Instrument Sans"/>
              </a:rPr>
              <a:t>Support et e-mails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comptoir" descr="maison.jpg"/>
          <p:cNvPicPr>
            <a:picLocks noChangeAspect="1"/>
          </p:cNvPicPr>
          <p:nvPr/>
        </p:nvPicPr>
        <p:blipFill>
          <a:blip r:embed="rId2"/>
          <a:srcRect l="26575" r="22575"/>
          <a:stretch>
            <a:fillRect/>
          </a:stretch>
        </p:blipFill>
        <p:spPr>
          <a:xfrm>
            <a:off x="5943600" y="0"/>
            <a:ext cx="6248095" cy="6858000"/>
          </a:xfrm>
          <a:prstGeom prst="rect">
            <a:avLst/>
          </a:prstGeom>
        </p:spPr>
      </p:pic>
      <p:sp>
        <p:nvSpPr>
          <p:cNvPr id="3" name="!!ProjectLabel"/>
          <p:cNvSpPr txBox="1"/>
          <p:nvPr/>
        </p:nvSpPr>
        <p:spPr>
          <a:xfrm>
            <a:off x="548640" y="31089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lang="fr-FR" spc="150">
                <a:solidFill>
                  <a:srgbClr val="1D1D1F"/>
                </a:solidFill>
                <a:latin typeface="Anton"/>
              </a:rPr>
              <a:t>CLÉOPÂTRE</a:t>
            </a:r>
          </a:p>
        </p:txBody>
      </p:sp>
      <p:sp>
        <p:nvSpPr>
          <p:cNvPr id="4" name="!!ChapterIndex"/>
          <p:cNvSpPr txBox="1"/>
          <p:nvPr/>
        </p:nvSpPr>
        <p:spPr>
          <a:xfrm>
            <a:off x="548640" y="6400800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 spc="60">
                <a:solidFill>
                  <a:srgbClr val="6E6E73"/>
                </a:solidFill>
                <a:latin typeface="JetBrains Mono"/>
              </a:rPr>
              <a:t>19 / 20   ·   CONCLUSION</a:t>
            </a:r>
          </a:p>
        </p:txBody>
      </p:sp>
      <p:sp>
        <p:nvSpPr>
          <p:cNvPr id="5" name="!!VideoStage"/>
          <p:cNvSpPr/>
          <p:nvPr/>
        </p:nvSpPr>
        <p:spPr>
          <a:xfrm>
            <a:off x="6309360" y="365760"/>
            <a:ext cx="5394960" cy="612648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MorphHeadline"/>
          <p:cNvSpPr txBox="1"/>
          <p:nvPr/>
        </p:nvSpPr>
        <p:spPr>
          <a:xfrm>
            <a:off x="548640" y="868680"/>
            <a:ext cx="5120640" cy="3383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6800" b="0" lang="fr-FR">
                <a:solidFill>
                  <a:srgbClr val="1D1D1F"/>
                </a:solidFill>
                <a:latin typeface="Anton"/>
              </a:rPr>
              <a:t>DU COMPTOIR</a:t>
            </a:r>
          </a:p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6800" b="0" lang="fr-FR">
                <a:solidFill>
                  <a:srgbClr val="1D1D1F"/>
                </a:solidFill>
                <a:latin typeface="Anton"/>
              </a:rPr>
              <a:t>À LA</a:t>
            </a:r>
          </a:p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6800" b="0" lang="fr-FR">
                <a:solidFill>
                  <a:srgbClr val="1D1D1F"/>
                </a:solidFill>
                <a:latin typeface="Anton"/>
              </a:rPr>
              <a:t>PLATEFORME</a:t>
            </a:r>
          </a:p>
        </p:txBody>
      </p:sp>
      <p:sp>
        <p:nvSpPr>
          <p:cNvPr id="7" name="!!CleoSignal"/>
          <p:cNvSpPr/>
          <p:nvPr/>
        </p:nvSpPr>
        <p:spPr>
          <a:xfrm>
            <a:off x="548640" y="4407408"/>
            <a:ext cx="1280160" cy="91440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" name="!!NarrativePath"/>
          <p:cNvCxnSpPr/>
          <p:nvPr/>
        </p:nvCxnSpPr>
        <p:spPr>
          <a:xfrm>
            <a:off x="548640" y="4453128"/>
            <a:ext cx="5029200" cy="0"/>
          </a:xfrm>
          <a:prstGeom prst="line">
            <a:avLst/>
          </a:prstGeom>
          <a:ln w="12700">
            <a:solidFill>
              <a:srgbClr val="1D1D1F"/>
            </a:solidFill>
          </a:ln>
        </p:spPr>
      </p:cxnSp>
      <p:sp>
        <p:nvSpPr>
          <p:cNvPr id="9" name="Bilan"/>
          <p:cNvSpPr txBox="1"/>
          <p:nvPr/>
        </p:nvSpPr>
        <p:spPr>
          <a:xfrm>
            <a:off x="548640" y="4681728"/>
            <a:ext cx="5120640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0" lang="fr-FR">
                <a:solidFill>
                  <a:srgbClr val="1D1D1F"/>
                </a:solidFill>
                <a:latin typeface="Instrument Sans"/>
              </a:rPr>
              <a:t>Une vitrine pour découvrir, commander et suivre.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0" lang="fr-FR">
                <a:solidFill>
                  <a:srgbClr val="1D1D1F"/>
                </a:solidFill>
                <a:latin typeface="Instrument Sans"/>
              </a:rPr>
              <a:t>Une administration pour gérer catalogue, stocks, commandes et support.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lang="fr-FR">
                <a:solidFill>
                  <a:srgbClr val="1D1D1F"/>
                </a:solidFill>
                <a:latin typeface="Instrument Sans"/>
              </a:rPr>
              <a:t>Une même base de données pour les deux parcours.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campagne retour" descr="hero.jpg"/>
          <p:cNvPicPr>
            <a:picLocks noChangeAspect="1"/>
          </p:cNvPicPr>
          <p:nvPr/>
        </p:nvPicPr>
        <p:blipFill>
          <a:blip r:embed="rId2"/>
          <a:srcRect l="17749" r="25749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!!ProjectLabel"/>
          <p:cNvSpPr txBox="1"/>
          <p:nvPr/>
        </p:nvSpPr>
        <p:spPr>
          <a:xfrm>
            <a:off x="548640" y="77724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0" lang="fr-FR" spc="100">
                <a:solidFill>
                  <a:srgbClr val="FFFFFF"/>
                </a:solidFill>
                <a:latin typeface="Anton"/>
              </a:rPr>
              <a:t>CLÉOPÂTRE</a:t>
            </a:r>
          </a:p>
        </p:txBody>
      </p:sp>
      <p:sp>
        <p:nvSpPr>
          <p:cNvPr id="4" name="!!ChapterIndex"/>
          <p:cNvSpPr txBox="1"/>
          <p:nvPr/>
        </p:nvSpPr>
        <p:spPr>
          <a:xfrm>
            <a:off x="548640" y="6355080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lang="fr-FR" spc="60">
                <a:solidFill>
                  <a:srgbClr val="AAAAAA"/>
                </a:solidFill>
                <a:latin typeface="JetBrains Mono"/>
              </a:rPr>
              <a:t>20 / 20   ·   CLÔTURE</a:t>
            </a:r>
          </a:p>
        </p:txBody>
      </p:sp>
      <p:sp>
        <p:nvSpPr>
          <p:cNvPr id="5" name="!!VideoStage"/>
          <p:cNvSpPr/>
          <p:nvPr/>
        </p:nvSpPr>
        <p:spPr>
          <a:xfrm>
            <a:off x="6720840" y="365760"/>
            <a:ext cx="5120640" cy="612648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CleoSignal"/>
          <p:cNvSpPr/>
          <p:nvPr/>
        </p:nvSpPr>
        <p:spPr>
          <a:xfrm>
            <a:off x="548640" y="1737360"/>
            <a:ext cx="4023360" cy="128016"/>
          </a:xfrm>
          <a:prstGeom prst="rect">
            <a:avLst/>
          </a:prstGeom>
          <a:solidFill>
            <a:srgbClr val="075E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MorphHeadline"/>
          <p:cNvSpPr txBox="1"/>
          <p:nvPr/>
        </p:nvSpPr>
        <p:spPr>
          <a:xfrm>
            <a:off x="548640" y="2103120"/>
            <a:ext cx="5669280" cy="3749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7600" b="0" lang="fr-FR">
                <a:solidFill>
                  <a:srgbClr val="FFFFFF"/>
                </a:solidFill>
                <a:latin typeface="Anton"/>
              </a:rPr>
              <a:t>MERCI POUR</a:t>
            </a:r>
          </a:p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7600" b="0" lang="fr-FR">
                <a:solidFill>
                  <a:srgbClr val="FFFFFF"/>
                </a:solidFill>
                <a:latin typeface="Anton"/>
              </a:rPr>
              <a:t>VOTRE</a:t>
            </a:r>
          </a:p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7600" b="0" lang="fr-FR">
                <a:solidFill>
                  <a:srgbClr val="FFFFFF"/>
                </a:solidFill>
                <a:latin typeface="Anton"/>
              </a:rPr>
              <a:t>ATTENTION</a:t>
            </a:r>
          </a:p>
        </p:txBody>
      </p:sp>
      <p:cxnSp>
        <p:nvCxnSpPr>
          <p:cNvPr id="8" name="!!NarrativePath"/>
          <p:cNvCxnSpPr/>
          <p:nvPr/>
        </p:nvCxnSpPr>
        <p:spPr>
          <a:xfrm>
            <a:off x="548640" y="5989320"/>
            <a:ext cx="5303520" cy="0"/>
          </a:xfrm>
          <a:prstGeom prst="line">
            <a:avLst/>
          </a:prstGeom>
          <a:ln w="12700">
            <a:solidFill>
              <a:srgbClr val="2C2C2E"/>
            </a:solidFill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1D1D1F"/>
      </a:dk1>
      <a:lt1>
        <a:srgbClr val="FFFFFF"/>
      </a:lt1>
      <a:dk2>
        <a:srgbClr val="2C2C2E"/>
      </a:dk2>
      <a:lt2>
        <a:srgbClr val="F5F5F7"/>
      </a:lt2>
      <a:accent1>
        <a:srgbClr val="075E46"/>
      </a:accent1>
      <a:accent2>
        <a:srgbClr val="054537"/>
      </a:accent2>
      <a:accent3>
        <a:srgbClr val="6E6E73"/>
      </a:accent3>
      <a:accent4>
        <a:srgbClr val="AAAAAA"/>
      </a:accent4>
      <a:accent5>
        <a:srgbClr val="B25000"/>
      </a:accent5>
      <a:accent6>
        <a:srgbClr val="D2D2D7"/>
      </a:accent6>
      <a:hlink>
        <a:srgbClr val="075E46"/>
      </a:hlink>
      <a:folHlink>
        <a:srgbClr val="6E6E73"/>
      </a:folHlink>
    </a:clrScheme>
    <a:fontScheme name="Office">
      <a:majorFont>
        <a:latin typeface="Instrument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strument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1D1D1F"/>
      </a:dk1>
      <a:lt1>
        <a:srgbClr val="FFFFFF"/>
      </a:lt1>
      <a:dk2>
        <a:srgbClr val="2C2C2E"/>
      </a:dk2>
      <a:lt2>
        <a:srgbClr val="F5F5F7"/>
      </a:lt2>
      <a:accent1>
        <a:srgbClr val="075E46"/>
      </a:accent1>
      <a:accent2>
        <a:srgbClr val="054537"/>
      </a:accent2>
      <a:accent3>
        <a:srgbClr val="6E6E73"/>
      </a:accent3>
      <a:accent4>
        <a:srgbClr val="AAAAAA"/>
      </a:accent4>
      <a:accent5>
        <a:srgbClr val="B25000"/>
      </a:accent5>
      <a:accent6>
        <a:srgbClr val="D2D2D7"/>
      </a:accent6>
      <a:hlink>
        <a:srgbClr val="075E46"/>
      </a:hlink>
      <a:folHlink>
        <a:srgbClr val="6E6E73"/>
      </a:folHlink>
    </a:clrScheme>
    <a:fontScheme name="Office">
      <a:majorFont>
        <a:latin typeface="Instrument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strument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Cléopâtre — Conception et réalisation d’une plateforme e-commerce pour une parapharmacie</dc:title>
  <dc:subject>Soutenance de PFE</dc:subject>
  <dc:creator/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fr-FR</dc:language>
</cp:coreProperties>
</file>